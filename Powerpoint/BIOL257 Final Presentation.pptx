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C06C61E7.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
  </p:notesMasterIdLst>
  <p:sldIdLst>
    <p:sldId id="256" r:id="rId2"/>
  </p:sldIdLst>
  <p:sldSz cx="43891200" cy="32918400"/>
  <p:notesSz cx="7010400" cy="9236075"/>
  <p:defaultTextStyle>
    <a:defPPr>
      <a:defRPr lang="en-US"/>
    </a:defPPr>
    <a:lvl1pPr marL="0" algn="l" defTabSz="4804277" rtl="0" eaLnBrk="1" latinLnBrk="0" hangingPunct="1">
      <a:defRPr sz="9499" kern="1200">
        <a:solidFill>
          <a:schemeClr val="tx1"/>
        </a:solidFill>
        <a:latin typeface="+mn-lt"/>
        <a:ea typeface="+mn-ea"/>
        <a:cs typeface="+mn-cs"/>
      </a:defRPr>
    </a:lvl1pPr>
    <a:lvl2pPr marL="2402136" algn="l" defTabSz="4804277" rtl="0" eaLnBrk="1" latinLnBrk="0" hangingPunct="1">
      <a:defRPr sz="9499" kern="1200">
        <a:solidFill>
          <a:schemeClr val="tx1"/>
        </a:solidFill>
        <a:latin typeface="+mn-lt"/>
        <a:ea typeface="+mn-ea"/>
        <a:cs typeface="+mn-cs"/>
      </a:defRPr>
    </a:lvl2pPr>
    <a:lvl3pPr marL="4804277" algn="l" defTabSz="4804277" rtl="0" eaLnBrk="1" latinLnBrk="0" hangingPunct="1">
      <a:defRPr sz="9499" kern="1200">
        <a:solidFill>
          <a:schemeClr val="tx1"/>
        </a:solidFill>
        <a:latin typeface="+mn-lt"/>
        <a:ea typeface="+mn-ea"/>
        <a:cs typeface="+mn-cs"/>
      </a:defRPr>
    </a:lvl3pPr>
    <a:lvl4pPr marL="7206427" algn="l" defTabSz="4804277" rtl="0" eaLnBrk="1" latinLnBrk="0" hangingPunct="1">
      <a:defRPr sz="9499" kern="1200">
        <a:solidFill>
          <a:schemeClr val="tx1"/>
        </a:solidFill>
        <a:latin typeface="+mn-lt"/>
        <a:ea typeface="+mn-ea"/>
        <a:cs typeface="+mn-cs"/>
      </a:defRPr>
    </a:lvl4pPr>
    <a:lvl5pPr marL="9608563" algn="l" defTabSz="4804277" rtl="0" eaLnBrk="1" latinLnBrk="0" hangingPunct="1">
      <a:defRPr sz="9499" kern="1200">
        <a:solidFill>
          <a:schemeClr val="tx1"/>
        </a:solidFill>
        <a:latin typeface="+mn-lt"/>
        <a:ea typeface="+mn-ea"/>
        <a:cs typeface="+mn-cs"/>
      </a:defRPr>
    </a:lvl5pPr>
    <a:lvl6pPr marL="12010694" algn="l" defTabSz="4804277" rtl="0" eaLnBrk="1" latinLnBrk="0" hangingPunct="1">
      <a:defRPr sz="9499" kern="1200">
        <a:solidFill>
          <a:schemeClr val="tx1"/>
        </a:solidFill>
        <a:latin typeface="+mn-lt"/>
        <a:ea typeface="+mn-ea"/>
        <a:cs typeface="+mn-cs"/>
      </a:defRPr>
    </a:lvl6pPr>
    <a:lvl7pPr marL="14412840" algn="l" defTabSz="4804277" rtl="0" eaLnBrk="1" latinLnBrk="0" hangingPunct="1">
      <a:defRPr sz="9499" kern="1200">
        <a:solidFill>
          <a:schemeClr val="tx1"/>
        </a:solidFill>
        <a:latin typeface="+mn-lt"/>
        <a:ea typeface="+mn-ea"/>
        <a:cs typeface="+mn-cs"/>
      </a:defRPr>
    </a:lvl7pPr>
    <a:lvl8pPr marL="16814976" algn="l" defTabSz="4804277" rtl="0" eaLnBrk="1" latinLnBrk="0" hangingPunct="1">
      <a:defRPr sz="9499" kern="1200">
        <a:solidFill>
          <a:schemeClr val="tx1"/>
        </a:solidFill>
        <a:latin typeface="+mn-lt"/>
        <a:ea typeface="+mn-ea"/>
        <a:cs typeface="+mn-cs"/>
      </a:defRPr>
    </a:lvl8pPr>
    <a:lvl9pPr marL="19217122" algn="l" defTabSz="4804277" rtl="0" eaLnBrk="1" latinLnBrk="0" hangingPunct="1">
      <a:defRPr sz="949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478" userDrawn="1">
          <p15:clr>
            <a:srgbClr val="A4A3A4"/>
          </p15:clr>
        </p15:guide>
        <p15:guide id="2" pos="22666" userDrawn="1">
          <p15:clr>
            <a:srgbClr val="A4A3A4"/>
          </p15:clr>
        </p15:guide>
        <p15:guide id="3" orient="horz" pos="13320" userDrawn="1">
          <p15:clr>
            <a:srgbClr val="A4A3A4"/>
          </p15:clr>
        </p15:guide>
        <p15:guide id="4" pos="2135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28709E8-70DB-3CDE-3B88-744B8E37896A}" name="Kaplan, Sofia" initials="KS" userId="S::skapl17@ur.rochester.edu::b29cf35a-5060-4b08-ab6d-6eab639d6587" providerId="AD"/>
  <p188:author id="{3C7FC9F9-4246-AF21-590E-2AB80BE88FEF}" name="Mulla, Aman" initials="AM" userId="S::amulla2@ur.rochester.edu::8def16aa-32a4-48b0-89d3-caf2047a17e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A39D"/>
    <a:srgbClr val="5FBABE"/>
    <a:srgbClr val="11EFF5"/>
    <a:srgbClr val="0099FF"/>
    <a:srgbClr val="00FFFF"/>
    <a:srgbClr val="00FF00"/>
    <a:srgbClr val="F7C9A6"/>
    <a:srgbClr val="D6DDC7"/>
    <a:srgbClr val="F4DECB"/>
    <a:srgbClr val="D8A3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EE5C75-690B-BC4A-B926-EA7FB0F2A3CC}" v="4054" dt="2025-12-10T15:40:12.105"/>
    <p1510:client id="{B50E044F-871C-8487-F43E-4122183B6E19}" v="182" dt="2025-12-09T22:33:55.492"/>
    <p1510:client id="{D0FC8317-EEAE-86FC-BF2E-4A32018E11CB}" v="1" dt="2025-12-09T21:37:23.509"/>
    <p1510:client id="{DA10E95C-2BB7-4F20-9B4B-1389F031405B}" v="3638" dt="2025-12-09T17:28:40.4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 d="100"/>
          <a:sy n="14" d="100"/>
        </p:scale>
        <p:origin x="448" y="216"/>
      </p:cViewPr>
      <p:guideLst>
        <p:guide orient="horz" pos="4478"/>
        <p:guide pos="22666"/>
        <p:guide orient="horz" pos="13320"/>
        <p:guide pos="2135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8/10/relationships/authors" Target="authors.xml"/></Relationships>
</file>

<file path=ppt/comments/modernComment_100_C06C61E7.xml><?xml version="1.0" encoding="utf-8"?>
<p188:cmLst xmlns:a="http://schemas.openxmlformats.org/drawingml/2006/main" xmlns:r="http://schemas.openxmlformats.org/officeDocument/2006/relationships" xmlns:p188="http://schemas.microsoft.com/office/powerpoint/2018/8/main">
  <p188:cm id="{C05E4F4B-C099-4BE9-A918-691AF9BF0C9B}" authorId="{3C7FC9F9-4246-AF21-590E-2AB80BE88FEF}" created="2025-12-09T16:44:08.147">
    <ac:deMkLst xmlns:ac="http://schemas.microsoft.com/office/drawing/2013/main/command">
      <pc:docMk xmlns:pc="http://schemas.microsoft.com/office/powerpoint/2013/main/command"/>
      <pc:sldMk xmlns:pc="http://schemas.microsoft.com/office/powerpoint/2013/main/command" cId="3228328423" sldId="256"/>
      <ac:picMk id="43" creationId="{1714DC11-1249-6A8D-A110-46BE79F48A75}"/>
    </ac:deMkLst>
    <p188:txBody>
      <a:bodyPr/>
      <a:lstStyle/>
      <a:p>
        <a:r>
          <a:rPr lang="en-US"/>
          <a:t>do we wanna get rid of this guy?</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3550"/>
          </a:xfrm>
          <a:prstGeom prst="rect">
            <a:avLst/>
          </a:prstGeom>
        </p:spPr>
        <p:txBody>
          <a:bodyPr vert="horz" lIns="91440" tIns="45720" rIns="91440" bIns="45720" rtlCol="0"/>
          <a:lstStyle>
            <a:lvl1pPr algn="r">
              <a:defRPr sz="1200"/>
            </a:lvl1pPr>
          </a:lstStyle>
          <a:p>
            <a:fld id="{3054F5BD-CBDA-429D-8060-91A817BAA5C3}" type="datetimeFigureOut">
              <a:rPr lang="en-US" smtClean="0"/>
              <a:t>12/13/2025</a:t>
            </a:fld>
            <a:endParaRPr lang="en-US"/>
          </a:p>
        </p:txBody>
      </p:sp>
      <p:sp>
        <p:nvSpPr>
          <p:cNvPr id="4" name="Slide Image Placeholder 3"/>
          <p:cNvSpPr>
            <a:spLocks noGrp="1" noRot="1" noChangeAspect="1"/>
          </p:cNvSpPr>
          <p:nvPr>
            <p:ph type="sldImg" idx="2"/>
          </p:nvPr>
        </p:nvSpPr>
        <p:spPr>
          <a:xfrm>
            <a:off x="1427163" y="1154113"/>
            <a:ext cx="4156075" cy="31178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45000"/>
            <a:ext cx="5607050" cy="3636963"/>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525"/>
            <a:ext cx="3038475" cy="4635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772525"/>
            <a:ext cx="3038475" cy="463550"/>
          </a:xfrm>
          <a:prstGeom prst="rect">
            <a:avLst/>
          </a:prstGeom>
        </p:spPr>
        <p:txBody>
          <a:bodyPr vert="horz" lIns="91440" tIns="45720" rIns="91440" bIns="45720" rtlCol="0" anchor="b"/>
          <a:lstStyle>
            <a:lvl1pPr algn="r">
              <a:defRPr sz="1200"/>
            </a:lvl1pPr>
          </a:lstStyle>
          <a:p>
            <a:fld id="{40928F0B-6C76-4FCC-9D84-BDCA97DE8E3A}" type="slidenum">
              <a:rPr lang="en-US" smtClean="0"/>
              <a:t>‹#›</a:t>
            </a:fld>
            <a:endParaRPr lang="en-US"/>
          </a:p>
        </p:txBody>
      </p:sp>
    </p:spTree>
    <p:extLst>
      <p:ext uri="{BB962C8B-B14F-4D97-AF65-F5344CB8AC3E}">
        <p14:creationId xmlns:p14="http://schemas.microsoft.com/office/powerpoint/2010/main" val="512735988"/>
      </p:ext>
    </p:extLst>
  </p:cSld>
  <p:clrMap bg1="lt1" tx1="dk1" bg2="lt2" tx2="dk2" accent1="accent1" accent2="accent2" accent3="accent3" accent4="accent4" accent5="accent5" accent6="accent6" hlink="hlink" folHlink="folHlink"/>
  <p:notesStyle>
    <a:lvl1pPr marL="0" algn="l" defTabSz="914256" rtl="0" eaLnBrk="1" latinLnBrk="0" hangingPunct="1">
      <a:defRPr sz="1200" kern="1200">
        <a:solidFill>
          <a:schemeClr val="tx1"/>
        </a:solidFill>
        <a:latin typeface="+mn-lt"/>
        <a:ea typeface="+mn-ea"/>
        <a:cs typeface="+mn-cs"/>
      </a:defRPr>
    </a:lvl1pPr>
    <a:lvl2pPr marL="457128" algn="l" defTabSz="914256" rtl="0" eaLnBrk="1" latinLnBrk="0" hangingPunct="1">
      <a:defRPr sz="1200" kern="1200">
        <a:solidFill>
          <a:schemeClr val="tx1"/>
        </a:solidFill>
        <a:latin typeface="+mn-lt"/>
        <a:ea typeface="+mn-ea"/>
        <a:cs typeface="+mn-cs"/>
      </a:defRPr>
    </a:lvl2pPr>
    <a:lvl3pPr marL="914256" algn="l" defTabSz="914256" rtl="0" eaLnBrk="1" latinLnBrk="0" hangingPunct="1">
      <a:defRPr sz="1200" kern="1200">
        <a:solidFill>
          <a:schemeClr val="tx1"/>
        </a:solidFill>
        <a:latin typeface="+mn-lt"/>
        <a:ea typeface="+mn-ea"/>
        <a:cs typeface="+mn-cs"/>
      </a:defRPr>
    </a:lvl3pPr>
    <a:lvl4pPr marL="1371379" algn="l" defTabSz="914256" rtl="0" eaLnBrk="1" latinLnBrk="0" hangingPunct="1">
      <a:defRPr sz="1200" kern="1200">
        <a:solidFill>
          <a:schemeClr val="tx1"/>
        </a:solidFill>
        <a:latin typeface="+mn-lt"/>
        <a:ea typeface="+mn-ea"/>
        <a:cs typeface="+mn-cs"/>
      </a:defRPr>
    </a:lvl4pPr>
    <a:lvl5pPr marL="1828507" algn="l" defTabSz="914256" rtl="0" eaLnBrk="1" latinLnBrk="0" hangingPunct="1">
      <a:defRPr sz="1200" kern="1200">
        <a:solidFill>
          <a:schemeClr val="tx1"/>
        </a:solidFill>
        <a:latin typeface="+mn-lt"/>
        <a:ea typeface="+mn-ea"/>
        <a:cs typeface="+mn-cs"/>
      </a:defRPr>
    </a:lvl5pPr>
    <a:lvl6pPr marL="2285635" algn="l" defTabSz="914256" rtl="0" eaLnBrk="1" latinLnBrk="0" hangingPunct="1">
      <a:defRPr sz="1200" kern="1200">
        <a:solidFill>
          <a:schemeClr val="tx1"/>
        </a:solidFill>
        <a:latin typeface="+mn-lt"/>
        <a:ea typeface="+mn-ea"/>
        <a:cs typeface="+mn-cs"/>
      </a:defRPr>
    </a:lvl6pPr>
    <a:lvl7pPr marL="2742763" algn="l" defTabSz="914256" rtl="0" eaLnBrk="1" latinLnBrk="0" hangingPunct="1">
      <a:defRPr sz="1200" kern="1200">
        <a:solidFill>
          <a:schemeClr val="tx1"/>
        </a:solidFill>
        <a:latin typeface="+mn-lt"/>
        <a:ea typeface="+mn-ea"/>
        <a:cs typeface="+mn-cs"/>
      </a:defRPr>
    </a:lvl7pPr>
    <a:lvl8pPr marL="3199886" algn="l" defTabSz="914256" rtl="0" eaLnBrk="1" latinLnBrk="0" hangingPunct="1">
      <a:defRPr sz="1200" kern="1200">
        <a:solidFill>
          <a:schemeClr val="tx1"/>
        </a:solidFill>
        <a:latin typeface="+mn-lt"/>
        <a:ea typeface="+mn-ea"/>
        <a:cs typeface="+mn-cs"/>
      </a:defRPr>
    </a:lvl8pPr>
    <a:lvl9pPr marL="3657014" algn="l" defTabSz="91425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928F0B-6C76-4FCC-9D84-BDCA97DE8E3A}" type="slidenum">
              <a:rPr lang="en-US" smtClean="0"/>
              <a:t>1</a:t>
            </a:fld>
            <a:endParaRPr lang="en-US"/>
          </a:p>
        </p:txBody>
      </p:sp>
    </p:spTree>
    <p:extLst>
      <p:ext uri="{BB962C8B-B14F-4D97-AF65-F5344CB8AC3E}">
        <p14:creationId xmlns:p14="http://schemas.microsoft.com/office/powerpoint/2010/main" val="785412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a:t>Click to edit Master title style</a:t>
            </a:r>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058302" indent="0" algn="ctr">
              <a:buNone/>
              <a:defRPr>
                <a:solidFill>
                  <a:schemeClr val="tx1">
                    <a:tint val="75000"/>
                  </a:schemeClr>
                </a:solidFill>
              </a:defRPr>
            </a:lvl2pPr>
            <a:lvl3pPr marL="4116629" indent="0" algn="ctr">
              <a:buNone/>
              <a:defRPr>
                <a:solidFill>
                  <a:schemeClr val="tx1">
                    <a:tint val="75000"/>
                  </a:schemeClr>
                </a:solidFill>
              </a:defRPr>
            </a:lvl3pPr>
            <a:lvl4pPr marL="6174946" indent="0" algn="ctr">
              <a:buNone/>
              <a:defRPr>
                <a:solidFill>
                  <a:schemeClr val="tx1">
                    <a:tint val="75000"/>
                  </a:schemeClr>
                </a:solidFill>
              </a:defRPr>
            </a:lvl4pPr>
            <a:lvl5pPr marL="8233258" indent="0" algn="ctr">
              <a:buNone/>
              <a:defRPr>
                <a:solidFill>
                  <a:schemeClr val="tx1">
                    <a:tint val="75000"/>
                  </a:schemeClr>
                </a:solidFill>
              </a:defRPr>
            </a:lvl5pPr>
            <a:lvl6pPr marL="10291565" indent="0" algn="ctr">
              <a:buNone/>
              <a:defRPr>
                <a:solidFill>
                  <a:schemeClr val="tx1">
                    <a:tint val="75000"/>
                  </a:schemeClr>
                </a:solidFill>
              </a:defRPr>
            </a:lvl6pPr>
            <a:lvl7pPr marL="12349886" indent="0" algn="ctr">
              <a:buNone/>
              <a:defRPr>
                <a:solidFill>
                  <a:schemeClr val="tx1">
                    <a:tint val="75000"/>
                  </a:schemeClr>
                </a:solidFill>
              </a:defRPr>
            </a:lvl7pPr>
            <a:lvl8pPr marL="14408194" indent="0" algn="ctr">
              <a:buNone/>
              <a:defRPr>
                <a:solidFill>
                  <a:schemeClr val="tx1">
                    <a:tint val="75000"/>
                  </a:schemeClr>
                </a:solidFill>
              </a:defRPr>
            </a:lvl8pPr>
            <a:lvl9pPr marL="1646652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C18BF59-BEE0-4625-890E-BCB2ABC2F5D1}"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670B5-9728-40EC-838D-1889329C588B}" type="slidenum">
              <a:rPr lang="en-US" smtClean="0"/>
              <a:t>‹#›</a:t>
            </a:fld>
            <a:endParaRPr lang="en-US"/>
          </a:p>
        </p:txBody>
      </p:sp>
    </p:spTree>
    <p:extLst>
      <p:ext uri="{BB962C8B-B14F-4D97-AF65-F5344CB8AC3E}">
        <p14:creationId xmlns:p14="http://schemas.microsoft.com/office/powerpoint/2010/main" val="1045955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18BF59-BEE0-4625-890E-BCB2ABC2F5D1}"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670B5-9728-40EC-838D-1889329C588B}" type="slidenum">
              <a:rPr lang="en-US" smtClean="0"/>
              <a:t>‹#›</a:t>
            </a:fld>
            <a:endParaRPr lang="en-US"/>
          </a:p>
        </p:txBody>
      </p:sp>
    </p:spTree>
    <p:extLst>
      <p:ext uri="{BB962C8B-B14F-4D97-AF65-F5344CB8AC3E}">
        <p14:creationId xmlns:p14="http://schemas.microsoft.com/office/powerpoint/2010/main" val="1582052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2"/>
            <a:ext cx="37307520" cy="6537960"/>
          </a:xfrm>
        </p:spPr>
        <p:txBody>
          <a:bodyPr anchor="t"/>
          <a:lstStyle>
            <a:lvl1pPr algn="l">
              <a:defRPr sz="17995" b="1" cap="all"/>
            </a:lvl1pPr>
          </a:lstStyle>
          <a:p>
            <a:r>
              <a:rPr lang="en-US"/>
              <a:t>Click to edit Master title style</a:t>
            </a:r>
          </a:p>
        </p:txBody>
      </p:sp>
      <p:sp>
        <p:nvSpPr>
          <p:cNvPr id="3" name="Text Placeholder 2"/>
          <p:cNvSpPr>
            <a:spLocks noGrp="1"/>
          </p:cNvSpPr>
          <p:nvPr>
            <p:ph type="body" idx="1"/>
          </p:nvPr>
        </p:nvSpPr>
        <p:spPr>
          <a:xfrm>
            <a:off x="3467102" y="13952229"/>
            <a:ext cx="37307520" cy="7200898"/>
          </a:xfrm>
        </p:spPr>
        <p:txBody>
          <a:bodyPr anchor="b"/>
          <a:lstStyle>
            <a:lvl1pPr marL="0" indent="0">
              <a:buNone/>
              <a:defRPr sz="9000">
                <a:solidFill>
                  <a:schemeClr val="tx1">
                    <a:tint val="75000"/>
                  </a:schemeClr>
                </a:solidFill>
              </a:defRPr>
            </a:lvl1pPr>
            <a:lvl2pPr marL="2058302" indent="0">
              <a:buNone/>
              <a:defRPr sz="8141">
                <a:solidFill>
                  <a:schemeClr val="tx1">
                    <a:tint val="75000"/>
                  </a:schemeClr>
                </a:solidFill>
              </a:defRPr>
            </a:lvl2pPr>
            <a:lvl3pPr marL="4116629" indent="0">
              <a:buNone/>
              <a:defRPr sz="7200">
                <a:solidFill>
                  <a:schemeClr val="tx1">
                    <a:tint val="75000"/>
                  </a:schemeClr>
                </a:solidFill>
              </a:defRPr>
            </a:lvl3pPr>
            <a:lvl4pPr marL="6174946" indent="0">
              <a:buNone/>
              <a:defRPr sz="6341">
                <a:solidFill>
                  <a:schemeClr val="tx1">
                    <a:tint val="75000"/>
                  </a:schemeClr>
                </a:solidFill>
              </a:defRPr>
            </a:lvl4pPr>
            <a:lvl5pPr marL="8233258" indent="0">
              <a:buNone/>
              <a:defRPr sz="6341">
                <a:solidFill>
                  <a:schemeClr val="tx1">
                    <a:tint val="75000"/>
                  </a:schemeClr>
                </a:solidFill>
              </a:defRPr>
            </a:lvl5pPr>
            <a:lvl6pPr marL="10291565" indent="0">
              <a:buNone/>
              <a:defRPr sz="6341">
                <a:solidFill>
                  <a:schemeClr val="tx1">
                    <a:tint val="75000"/>
                  </a:schemeClr>
                </a:solidFill>
              </a:defRPr>
            </a:lvl6pPr>
            <a:lvl7pPr marL="12349886" indent="0">
              <a:buNone/>
              <a:defRPr sz="6341">
                <a:solidFill>
                  <a:schemeClr val="tx1">
                    <a:tint val="75000"/>
                  </a:schemeClr>
                </a:solidFill>
              </a:defRPr>
            </a:lvl7pPr>
            <a:lvl8pPr marL="14408194" indent="0">
              <a:buNone/>
              <a:defRPr sz="6341">
                <a:solidFill>
                  <a:schemeClr val="tx1">
                    <a:tint val="75000"/>
                  </a:schemeClr>
                </a:solidFill>
              </a:defRPr>
            </a:lvl8pPr>
            <a:lvl9pPr marL="16466520" indent="0">
              <a:buNone/>
              <a:defRPr sz="634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18BF59-BEE0-4625-890E-BCB2ABC2F5D1}"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670B5-9728-40EC-838D-1889329C588B}" type="slidenum">
              <a:rPr lang="en-US" smtClean="0"/>
              <a:t>‹#›</a:t>
            </a:fld>
            <a:endParaRPr lang="en-US"/>
          </a:p>
        </p:txBody>
      </p:sp>
    </p:spTree>
    <p:extLst>
      <p:ext uri="{BB962C8B-B14F-4D97-AF65-F5344CB8AC3E}">
        <p14:creationId xmlns:p14="http://schemas.microsoft.com/office/powerpoint/2010/main" val="3751209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291062" y="36865560"/>
            <a:ext cx="110238538" cy="104279702"/>
          </a:xfrm>
        </p:spPr>
        <p:txBody>
          <a:bodyPr/>
          <a:lstStyle>
            <a:lvl1pPr>
              <a:defRPr sz="12595"/>
            </a:lvl1pPr>
            <a:lvl2pPr>
              <a:defRPr sz="10795"/>
            </a:lvl2pPr>
            <a:lvl3pPr>
              <a:defRPr sz="9000"/>
            </a:lvl3pPr>
            <a:lvl4pPr>
              <a:defRPr sz="8141"/>
            </a:lvl4pPr>
            <a:lvl5pPr>
              <a:defRPr sz="8141"/>
            </a:lvl5pPr>
            <a:lvl6pPr>
              <a:defRPr sz="8141"/>
            </a:lvl6pPr>
            <a:lvl7pPr>
              <a:defRPr sz="8141"/>
            </a:lvl7pPr>
            <a:lvl8pPr>
              <a:defRPr sz="8141"/>
            </a:lvl8pPr>
            <a:lvl9pPr>
              <a:defRPr sz="814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261161" y="36865560"/>
            <a:ext cx="110238542" cy="104279702"/>
          </a:xfrm>
        </p:spPr>
        <p:txBody>
          <a:bodyPr/>
          <a:lstStyle>
            <a:lvl1pPr>
              <a:defRPr sz="12595"/>
            </a:lvl1pPr>
            <a:lvl2pPr>
              <a:defRPr sz="10795"/>
            </a:lvl2pPr>
            <a:lvl3pPr>
              <a:defRPr sz="9000"/>
            </a:lvl3pPr>
            <a:lvl4pPr>
              <a:defRPr sz="8141"/>
            </a:lvl4pPr>
            <a:lvl5pPr>
              <a:defRPr sz="8141"/>
            </a:lvl5pPr>
            <a:lvl6pPr>
              <a:defRPr sz="8141"/>
            </a:lvl6pPr>
            <a:lvl7pPr>
              <a:defRPr sz="8141"/>
            </a:lvl7pPr>
            <a:lvl8pPr>
              <a:defRPr sz="8141"/>
            </a:lvl8pPr>
            <a:lvl9pPr>
              <a:defRPr sz="814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C18BF59-BEE0-4625-890E-BCB2ABC2F5D1}"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3670B5-9728-40EC-838D-1889329C588B}" type="slidenum">
              <a:rPr lang="en-US" smtClean="0"/>
              <a:t>‹#›</a:t>
            </a:fld>
            <a:endParaRPr lang="en-US"/>
          </a:p>
        </p:txBody>
      </p:sp>
    </p:spTree>
    <p:extLst>
      <p:ext uri="{BB962C8B-B14F-4D97-AF65-F5344CB8AC3E}">
        <p14:creationId xmlns:p14="http://schemas.microsoft.com/office/powerpoint/2010/main" val="545106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0" y="7368542"/>
            <a:ext cx="19392902" cy="3070858"/>
          </a:xfrm>
        </p:spPr>
        <p:txBody>
          <a:bodyPr anchor="b"/>
          <a:lstStyle>
            <a:lvl1pPr marL="0" indent="0">
              <a:buNone/>
              <a:defRPr sz="10795" b="1"/>
            </a:lvl1pPr>
            <a:lvl2pPr marL="2058302" indent="0">
              <a:buNone/>
              <a:defRPr sz="9000" b="1"/>
            </a:lvl2pPr>
            <a:lvl3pPr marL="4116629" indent="0">
              <a:buNone/>
              <a:defRPr sz="8141" b="1"/>
            </a:lvl3pPr>
            <a:lvl4pPr marL="6174946" indent="0">
              <a:buNone/>
              <a:defRPr sz="7200" b="1"/>
            </a:lvl4pPr>
            <a:lvl5pPr marL="8233258" indent="0">
              <a:buNone/>
              <a:defRPr sz="7200" b="1"/>
            </a:lvl5pPr>
            <a:lvl6pPr marL="10291565" indent="0">
              <a:buNone/>
              <a:defRPr sz="7200" b="1"/>
            </a:lvl6pPr>
            <a:lvl7pPr marL="12349886" indent="0">
              <a:buNone/>
              <a:defRPr sz="7200" b="1"/>
            </a:lvl7pPr>
            <a:lvl8pPr marL="14408194" indent="0">
              <a:buNone/>
              <a:defRPr sz="7200" b="1"/>
            </a:lvl8pPr>
            <a:lvl9pPr marL="16466520" indent="0">
              <a:buNone/>
              <a:defRPr sz="7200" b="1"/>
            </a:lvl9pPr>
          </a:lstStyle>
          <a:p>
            <a:pPr lvl="0"/>
            <a:r>
              <a:rPr lang="en-US"/>
              <a:t>Click to edit Master text styles</a:t>
            </a:r>
          </a:p>
        </p:txBody>
      </p:sp>
      <p:sp>
        <p:nvSpPr>
          <p:cNvPr id="4" name="Content Placeholder 3"/>
          <p:cNvSpPr>
            <a:spLocks noGrp="1"/>
          </p:cNvSpPr>
          <p:nvPr>
            <p:ph sz="half" idx="2"/>
          </p:nvPr>
        </p:nvSpPr>
        <p:spPr>
          <a:xfrm>
            <a:off x="2194560" y="10439400"/>
            <a:ext cx="19392902" cy="18966182"/>
          </a:xfrm>
        </p:spPr>
        <p:txBody>
          <a:bodyPr/>
          <a:lstStyle>
            <a:lvl1pPr>
              <a:defRPr sz="10795"/>
            </a:lvl1pPr>
            <a:lvl2pPr>
              <a:defRPr sz="9000"/>
            </a:lvl2pPr>
            <a:lvl3pPr>
              <a:defRPr sz="8141"/>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7" y="7368542"/>
            <a:ext cx="19400520" cy="3070858"/>
          </a:xfrm>
        </p:spPr>
        <p:txBody>
          <a:bodyPr anchor="b"/>
          <a:lstStyle>
            <a:lvl1pPr marL="0" indent="0">
              <a:buNone/>
              <a:defRPr sz="10795" b="1"/>
            </a:lvl1pPr>
            <a:lvl2pPr marL="2058302" indent="0">
              <a:buNone/>
              <a:defRPr sz="9000" b="1"/>
            </a:lvl2pPr>
            <a:lvl3pPr marL="4116629" indent="0">
              <a:buNone/>
              <a:defRPr sz="8141" b="1"/>
            </a:lvl3pPr>
            <a:lvl4pPr marL="6174946" indent="0">
              <a:buNone/>
              <a:defRPr sz="7200" b="1"/>
            </a:lvl4pPr>
            <a:lvl5pPr marL="8233258" indent="0">
              <a:buNone/>
              <a:defRPr sz="7200" b="1"/>
            </a:lvl5pPr>
            <a:lvl6pPr marL="10291565" indent="0">
              <a:buNone/>
              <a:defRPr sz="7200" b="1"/>
            </a:lvl6pPr>
            <a:lvl7pPr marL="12349886" indent="0">
              <a:buNone/>
              <a:defRPr sz="7200" b="1"/>
            </a:lvl7pPr>
            <a:lvl8pPr marL="14408194" indent="0">
              <a:buNone/>
              <a:defRPr sz="7200" b="1"/>
            </a:lvl8pPr>
            <a:lvl9pPr marL="16466520" indent="0">
              <a:buNone/>
              <a:defRPr sz="7200" b="1"/>
            </a:lvl9pPr>
          </a:lstStyle>
          <a:p>
            <a:pPr lvl="0"/>
            <a:r>
              <a:rPr lang="en-US"/>
              <a:t>Click to edit Master text styles</a:t>
            </a:r>
          </a:p>
        </p:txBody>
      </p:sp>
      <p:sp>
        <p:nvSpPr>
          <p:cNvPr id="6" name="Content Placeholder 5"/>
          <p:cNvSpPr>
            <a:spLocks noGrp="1"/>
          </p:cNvSpPr>
          <p:nvPr>
            <p:ph sz="quarter" idx="4"/>
          </p:nvPr>
        </p:nvSpPr>
        <p:spPr>
          <a:xfrm>
            <a:off x="22296127" y="10439400"/>
            <a:ext cx="19400520" cy="18966182"/>
          </a:xfrm>
        </p:spPr>
        <p:txBody>
          <a:bodyPr/>
          <a:lstStyle>
            <a:lvl1pPr>
              <a:defRPr sz="10795"/>
            </a:lvl1pPr>
            <a:lvl2pPr>
              <a:defRPr sz="9000"/>
            </a:lvl2pPr>
            <a:lvl3pPr>
              <a:defRPr sz="8141"/>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C18BF59-BEE0-4625-890E-BCB2ABC2F5D1}" type="datetimeFigureOut">
              <a:rPr lang="en-US" smtClean="0"/>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33670B5-9728-40EC-838D-1889329C588B}" type="slidenum">
              <a:rPr lang="en-US" smtClean="0"/>
              <a:t>‹#›</a:t>
            </a:fld>
            <a:endParaRPr lang="en-US"/>
          </a:p>
        </p:txBody>
      </p:sp>
    </p:spTree>
    <p:extLst>
      <p:ext uri="{BB962C8B-B14F-4D97-AF65-F5344CB8AC3E}">
        <p14:creationId xmlns:p14="http://schemas.microsoft.com/office/powerpoint/2010/main" val="3274095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C18BF59-BEE0-4625-890E-BCB2ABC2F5D1}" type="datetimeFigureOut">
              <a:rPr lang="en-US" smtClean="0"/>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33670B5-9728-40EC-838D-1889329C588B}" type="slidenum">
              <a:rPr lang="en-US" smtClean="0"/>
              <a:t>‹#›</a:t>
            </a:fld>
            <a:endParaRPr lang="en-US"/>
          </a:p>
        </p:txBody>
      </p:sp>
    </p:spTree>
    <p:extLst>
      <p:ext uri="{BB962C8B-B14F-4D97-AF65-F5344CB8AC3E}">
        <p14:creationId xmlns:p14="http://schemas.microsoft.com/office/powerpoint/2010/main" val="3302674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18BF59-BEE0-4625-890E-BCB2ABC2F5D1}" type="datetimeFigureOut">
              <a:rPr lang="en-US" smtClean="0"/>
              <a:t>12/13/2025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33670B5-9728-40EC-838D-1889329C588B}" type="slidenum">
              <a:rPr lang="en-US" smtClean="0"/>
              <a:t>‹#›</a:t>
            </a:fld>
            <a:endParaRPr lang="en-US"/>
          </a:p>
        </p:txBody>
      </p:sp>
    </p:spTree>
    <p:extLst>
      <p:ext uri="{BB962C8B-B14F-4D97-AF65-F5344CB8AC3E}">
        <p14:creationId xmlns:p14="http://schemas.microsoft.com/office/powerpoint/2010/main" val="1291358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601" y="1310640"/>
            <a:ext cx="14439902" cy="5577840"/>
          </a:xfrm>
        </p:spPr>
        <p:txBody>
          <a:bodyPr anchor="b"/>
          <a:lstStyle>
            <a:lvl1pPr algn="l">
              <a:defRPr sz="9000" b="1"/>
            </a:lvl1pPr>
          </a:lstStyle>
          <a:p>
            <a:r>
              <a:rPr lang="en-US"/>
              <a:t>Click to edit Master title style</a:t>
            </a:r>
          </a:p>
        </p:txBody>
      </p:sp>
      <p:sp>
        <p:nvSpPr>
          <p:cNvPr id="3" name="Content Placeholder 2"/>
          <p:cNvSpPr>
            <a:spLocks noGrp="1"/>
          </p:cNvSpPr>
          <p:nvPr>
            <p:ph idx="1"/>
          </p:nvPr>
        </p:nvSpPr>
        <p:spPr>
          <a:xfrm>
            <a:off x="17160240" y="1310647"/>
            <a:ext cx="24536400" cy="28094942"/>
          </a:xfrm>
        </p:spPr>
        <p:txBody>
          <a:bodyPr/>
          <a:lstStyle>
            <a:lvl1pPr>
              <a:defRPr sz="14395"/>
            </a:lvl1pPr>
            <a:lvl2pPr>
              <a:defRPr sz="12595"/>
            </a:lvl2pPr>
            <a:lvl3pPr>
              <a:defRPr sz="10795"/>
            </a:lvl3pPr>
            <a:lvl4pPr>
              <a:defRPr sz="9000"/>
            </a:lvl4pPr>
            <a:lvl5pPr>
              <a:defRPr sz="9000"/>
            </a:lvl5pPr>
            <a:lvl6pPr>
              <a:defRPr sz="9000"/>
            </a:lvl6pPr>
            <a:lvl7pPr>
              <a:defRPr sz="9000"/>
            </a:lvl7pPr>
            <a:lvl8pPr>
              <a:defRPr sz="9000"/>
            </a:lvl8pPr>
            <a:lvl9pPr>
              <a:defRPr sz="9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601" y="6888487"/>
            <a:ext cx="14439902" cy="22517102"/>
          </a:xfrm>
        </p:spPr>
        <p:txBody>
          <a:bodyPr/>
          <a:lstStyle>
            <a:lvl1pPr marL="0" indent="0">
              <a:buNone/>
              <a:defRPr sz="6341"/>
            </a:lvl1pPr>
            <a:lvl2pPr marL="2058302" indent="0">
              <a:buNone/>
              <a:defRPr sz="5400"/>
            </a:lvl2pPr>
            <a:lvl3pPr marL="4116629" indent="0">
              <a:buNone/>
              <a:defRPr sz="4541"/>
            </a:lvl3pPr>
            <a:lvl4pPr marL="6174946" indent="0">
              <a:buNone/>
              <a:defRPr sz="4027"/>
            </a:lvl4pPr>
            <a:lvl5pPr marL="8233258" indent="0">
              <a:buNone/>
              <a:defRPr sz="4027"/>
            </a:lvl5pPr>
            <a:lvl6pPr marL="10291565" indent="0">
              <a:buNone/>
              <a:defRPr sz="4027"/>
            </a:lvl6pPr>
            <a:lvl7pPr marL="12349886" indent="0">
              <a:buNone/>
              <a:defRPr sz="4027"/>
            </a:lvl7pPr>
            <a:lvl8pPr marL="14408194" indent="0">
              <a:buNone/>
              <a:defRPr sz="4027"/>
            </a:lvl8pPr>
            <a:lvl9pPr marL="16466520" indent="0">
              <a:buNone/>
              <a:defRPr sz="4027"/>
            </a:lvl9pPr>
          </a:lstStyle>
          <a:p>
            <a:pPr lvl="0"/>
            <a:r>
              <a:rPr lang="en-US"/>
              <a:t>Click to edit Master text styles</a:t>
            </a:r>
          </a:p>
        </p:txBody>
      </p:sp>
      <p:sp>
        <p:nvSpPr>
          <p:cNvPr id="5" name="Date Placeholder 4"/>
          <p:cNvSpPr>
            <a:spLocks noGrp="1"/>
          </p:cNvSpPr>
          <p:nvPr>
            <p:ph type="dt" sz="half" idx="10"/>
          </p:nvPr>
        </p:nvSpPr>
        <p:spPr/>
        <p:txBody>
          <a:bodyPr/>
          <a:lstStyle/>
          <a:p>
            <a:fld id="{AC18BF59-BEE0-4625-890E-BCB2ABC2F5D1}"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3670B5-9728-40EC-838D-1889329C588B}" type="slidenum">
              <a:rPr lang="en-US" smtClean="0"/>
              <a:t>‹#›</a:t>
            </a:fld>
            <a:endParaRPr lang="en-US"/>
          </a:p>
        </p:txBody>
      </p:sp>
    </p:spTree>
    <p:extLst>
      <p:ext uri="{BB962C8B-B14F-4D97-AF65-F5344CB8AC3E}">
        <p14:creationId xmlns:p14="http://schemas.microsoft.com/office/powerpoint/2010/main" val="252356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0"/>
            <a:ext cx="26334720" cy="2720342"/>
          </a:xfrm>
        </p:spPr>
        <p:txBody>
          <a:bodyPr anchor="b"/>
          <a:lstStyle>
            <a:lvl1pPr algn="l">
              <a:defRPr sz="9000" b="1"/>
            </a:lvl1pPr>
          </a:lstStyle>
          <a:p>
            <a:r>
              <a:rPr lang="en-US"/>
              <a:t>Click to edit Master title style</a:t>
            </a:r>
          </a:p>
        </p:txBody>
      </p:sp>
      <p:sp>
        <p:nvSpPr>
          <p:cNvPr id="3" name="Picture Placeholder 2"/>
          <p:cNvSpPr>
            <a:spLocks noGrp="1"/>
          </p:cNvSpPr>
          <p:nvPr>
            <p:ph type="pic" idx="1"/>
          </p:nvPr>
        </p:nvSpPr>
        <p:spPr>
          <a:xfrm>
            <a:off x="8602982" y="2941320"/>
            <a:ext cx="26334720" cy="19751040"/>
          </a:xfrm>
        </p:spPr>
        <p:txBody>
          <a:bodyPr/>
          <a:lstStyle>
            <a:lvl1pPr marL="0" indent="0">
              <a:buNone/>
              <a:defRPr sz="14395"/>
            </a:lvl1pPr>
            <a:lvl2pPr marL="2058302" indent="0">
              <a:buNone/>
              <a:defRPr sz="12595"/>
            </a:lvl2pPr>
            <a:lvl3pPr marL="4116629" indent="0">
              <a:buNone/>
              <a:defRPr sz="10795"/>
            </a:lvl3pPr>
            <a:lvl4pPr marL="6174946" indent="0">
              <a:buNone/>
              <a:defRPr sz="9000"/>
            </a:lvl4pPr>
            <a:lvl5pPr marL="8233258" indent="0">
              <a:buNone/>
              <a:defRPr sz="9000"/>
            </a:lvl5pPr>
            <a:lvl6pPr marL="10291565" indent="0">
              <a:buNone/>
              <a:defRPr sz="9000"/>
            </a:lvl6pPr>
            <a:lvl7pPr marL="12349886" indent="0">
              <a:buNone/>
              <a:defRPr sz="9000"/>
            </a:lvl7pPr>
            <a:lvl8pPr marL="14408194" indent="0">
              <a:buNone/>
              <a:defRPr sz="9000"/>
            </a:lvl8pPr>
            <a:lvl9pPr marL="16466520" indent="0">
              <a:buNone/>
              <a:defRPr sz="9000"/>
            </a:lvl9pPr>
          </a:lstStyle>
          <a:p>
            <a:endParaRPr lang="en-US"/>
          </a:p>
        </p:txBody>
      </p:sp>
      <p:sp>
        <p:nvSpPr>
          <p:cNvPr id="4" name="Text Placeholder 3"/>
          <p:cNvSpPr>
            <a:spLocks noGrp="1"/>
          </p:cNvSpPr>
          <p:nvPr>
            <p:ph type="body" sz="half" idx="2"/>
          </p:nvPr>
        </p:nvSpPr>
        <p:spPr>
          <a:xfrm>
            <a:off x="8602982" y="25763222"/>
            <a:ext cx="26334720" cy="3863338"/>
          </a:xfrm>
        </p:spPr>
        <p:txBody>
          <a:bodyPr/>
          <a:lstStyle>
            <a:lvl1pPr marL="0" indent="0">
              <a:buNone/>
              <a:defRPr sz="6341"/>
            </a:lvl1pPr>
            <a:lvl2pPr marL="2058302" indent="0">
              <a:buNone/>
              <a:defRPr sz="5400"/>
            </a:lvl2pPr>
            <a:lvl3pPr marL="4116629" indent="0">
              <a:buNone/>
              <a:defRPr sz="4541"/>
            </a:lvl3pPr>
            <a:lvl4pPr marL="6174946" indent="0">
              <a:buNone/>
              <a:defRPr sz="4027"/>
            </a:lvl4pPr>
            <a:lvl5pPr marL="8233258" indent="0">
              <a:buNone/>
              <a:defRPr sz="4027"/>
            </a:lvl5pPr>
            <a:lvl6pPr marL="10291565" indent="0">
              <a:buNone/>
              <a:defRPr sz="4027"/>
            </a:lvl6pPr>
            <a:lvl7pPr marL="12349886" indent="0">
              <a:buNone/>
              <a:defRPr sz="4027"/>
            </a:lvl7pPr>
            <a:lvl8pPr marL="14408194" indent="0">
              <a:buNone/>
              <a:defRPr sz="4027"/>
            </a:lvl8pPr>
            <a:lvl9pPr marL="16466520" indent="0">
              <a:buNone/>
              <a:defRPr sz="4027"/>
            </a:lvl9pPr>
          </a:lstStyle>
          <a:p>
            <a:pPr lvl="0"/>
            <a:r>
              <a:rPr lang="en-US"/>
              <a:t>Click to edit Master text styles</a:t>
            </a:r>
          </a:p>
        </p:txBody>
      </p:sp>
      <p:sp>
        <p:nvSpPr>
          <p:cNvPr id="5" name="Date Placeholder 4"/>
          <p:cNvSpPr>
            <a:spLocks noGrp="1"/>
          </p:cNvSpPr>
          <p:nvPr>
            <p:ph type="dt" sz="half" idx="10"/>
          </p:nvPr>
        </p:nvSpPr>
        <p:spPr/>
        <p:txBody>
          <a:bodyPr/>
          <a:lstStyle/>
          <a:p>
            <a:fld id="{AC18BF59-BEE0-4625-890E-BCB2ABC2F5D1}"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3670B5-9728-40EC-838D-1889329C588B}" type="slidenum">
              <a:rPr lang="en-US" smtClean="0"/>
              <a:t>‹#›</a:t>
            </a:fld>
            <a:endParaRPr lang="en-US"/>
          </a:p>
        </p:txBody>
      </p:sp>
    </p:spTree>
    <p:extLst>
      <p:ext uri="{BB962C8B-B14F-4D97-AF65-F5344CB8AC3E}">
        <p14:creationId xmlns:p14="http://schemas.microsoft.com/office/powerpoint/2010/main" val="2615372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18BF59-BEE0-4625-890E-BCB2ABC2F5D1}"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670B5-9728-40EC-838D-1889329C588B}" type="slidenum">
              <a:rPr lang="en-US" smtClean="0"/>
              <a:t>‹#›</a:t>
            </a:fld>
            <a:endParaRPr lang="en-US"/>
          </a:p>
        </p:txBody>
      </p:sp>
    </p:spTree>
    <p:extLst>
      <p:ext uri="{BB962C8B-B14F-4D97-AF65-F5344CB8AC3E}">
        <p14:creationId xmlns:p14="http://schemas.microsoft.com/office/powerpoint/2010/main" val="225350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8201320" y="6324600"/>
            <a:ext cx="55298342" cy="1348206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291103" y="6324600"/>
            <a:ext cx="165178738" cy="1348206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18BF59-BEE0-4625-890E-BCB2ABC2F5D1}"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670B5-9728-40EC-838D-1889329C588B}" type="slidenum">
              <a:rPr lang="en-US" smtClean="0"/>
              <a:t>‹#›</a:t>
            </a:fld>
            <a:endParaRPr lang="en-US"/>
          </a:p>
        </p:txBody>
      </p:sp>
    </p:spTree>
    <p:extLst>
      <p:ext uri="{BB962C8B-B14F-4D97-AF65-F5344CB8AC3E}">
        <p14:creationId xmlns:p14="http://schemas.microsoft.com/office/powerpoint/2010/main" val="2963501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480378" tIns="240192" rIns="480378" bIns="240192" rtlCol="0" anchor="ctr">
            <a:normAutofit/>
          </a:bodyPr>
          <a:lstStyle/>
          <a:p>
            <a:r>
              <a:rPr lang="en-US"/>
              <a:t>Click to edit Master title style</a:t>
            </a:r>
          </a:p>
        </p:txBody>
      </p:sp>
      <p:sp>
        <p:nvSpPr>
          <p:cNvPr id="3" name="Text Placeholder 2"/>
          <p:cNvSpPr>
            <a:spLocks noGrp="1"/>
          </p:cNvSpPr>
          <p:nvPr>
            <p:ph type="body" idx="1"/>
          </p:nvPr>
        </p:nvSpPr>
        <p:spPr>
          <a:xfrm>
            <a:off x="2194560" y="7680967"/>
            <a:ext cx="39502080" cy="21724622"/>
          </a:xfrm>
          <a:prstGeom prst="rect">
            <a:avLst/>
          </a:prstGeom>
        </p:spPr>
        <p:txBody>
          <a:bodyPr vert="horz" lIns="480378" tIns="240192" rIns="480378" bIns="24019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94560" y="30510482"/>
            <a:ext cx="10241280" cy="1752600"/>
          </a:xfrm>
          <a:prstGeom prst="rect">
            <a:avLst/>
          </a:prstGeom>
        </p:spPr>
        <p:txBody>
          <a:bodyPr vert="horz" lIns="480378" tIns="240192" rIns="480378" bIns="240192" rtlCol="0" anchor="ctr"/>
          <a:lstStyle>
            <a:lvl1pPr algn="l">
              <a:defRPr sz="5400">
                <a:solidFill>
                  <a:schemeClr val="tx1">
                    <a:tint val="75000"/>
                  </a:schemeClr>
                </a:solidFill>
              </a:defRPr>
            </a:lvl1pPr>
          </a:lstStyle>
          <a:p>
            <a:fld id="{AC18BF59-BEE0-4625-890E-BCB2ABC2F5D1}" type="datetimeFigureOut">
              <a:rPr lang="en-US" smtClean="0"/>
              <a:t>12/13/2025</a:t>
            </a:fld>
            <a:endParaRPr lang="en-US"/>
          </a:p>
        </p:txBody>
      </p:sp>
      <p:sp>
        <p:nvSpPr>
          <p:cNvPr id="5" name="Footer Placeholder 4"/>
          <p:cNvSpPr>
            <a:spLocks noGrp="1"/>
          </p:cNvSpPr>
          <p:nvPr>
            <p:ph type="ftr" sz="quarter" idx="3"/>
          </p:nvPr>
        </p:nvSpPr>
        <p:spPr>
          <a:xfrm>
            <a:off x="14996160" y="30510482"/>
            <a:ext cx="13898880" cy="1752600"/>
          </a:xfrm>
          <a:prstGeom prst="rect">
            <a:avLst/>
          </a:prstGeom>
        </p:spPr>
        <p:txBody>
          <a:bodyPr vert="horz" lIns="480378" tIns="240192" rIns="480378" bIns="240192" rtlCol="0" anchor="ctr"/>
          <a:lstStyle>
            <a:lvl1pPr algn="ctr">
              <a:defRPr sz="54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2"/>
            <a:ext cx="10241280" cy="1752600"/>
          </a:xfrm>
          <a:prstGeom prst="rect">
            <a:avLst/>
          </a:prstGeom>
        </p:spPr>
        <p:txBody>
          <a:bodyPr vert="horz" lIns="480378" tIns="240192" rIns="480378" bIns="240192" rtlCol="0" anchor="ctr"/>
          <a:lstStyle>
            <a:lvl1pPr algn="r">
              <a:defRPr sz="5400">
                <a:solidFill>
                  <a:schemeClr val="tx1">
                    <a:tint val="75000"/>
                  </a:schemeClr>
                </a:solidFill>
              </a:defRPr>
            </a:lvl1pPr>
          </a:lstStyle>
          <a:p>
            <a:fld id="{D33670B5-9728-40EC-838D-1889329C588B}" type="slidenum">
              <a:rPr lang="en-US" smtClean="0"/>
              <a:t>‹#›</a:t>
            </a:fld>
            <a:endParaRPr lang="en-US"/>
          </a:p>
        </p:txBody>
      </p:sp>
    </p:spTree>
    <p:extLst>
      <p:ext uri="{BB962C8B-B14F-4D97-AF65-F5344CB8AC3E}">
        <p14:creationId xmlns:p14="http://schemas.microsoft.com/office/powerpoint/2010/main" val="67551253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4116629" rtl="0" eaLnBrk="1" latinLnBrk="0" hangingPunct="1">
        <a:spcBef>
          <a:spcPct val="0"/>
        </a:spcBef>
        <a:buNone/>
        <a:defRPr sz="19795" kern="1200">
          <a:solidFill>
            <a:schemeClr val="tx1"/>
          </a:solidFill>
          <a:latin typeface="+mj-lt"/>
          <a:ea typeface="+mj-ea"/>
          <a:cs typeface="+mj-cs"/>
        </a:defRPr>
      </a:lvl1pPr>
    </p:titleStyle>
    <p:bodyStyle>
      <a:lvl1pPr marL="1543738" indent="-1543738" algn="l" defTabSz="4116629" rtl="0" eaLnBrk="1" latinLnBrk="0" hangingPunct="1">
        <a:spcBef>
          <a:spcPct val="20000"/>
        </a:spcBef>
        <a:buFont typeface="Arial" panose="020B0604020202020204" pitchFamily="34" charset="0"/>
        <a:buChar char="•"/>
        <a:defRPr sz="14395" kern="1200">
          <a:solidFill>
            <a:schemeClr val="tx1"/>
          </a:solidFill>
          <a:latin typeface="+mn-lt"/>
          <a:ea typeface="+mn-ea"/>
          <a:cs typeface="+mn-cs"/>
        </a:defRPr>
      </a:lvl1pPr>
      <a:lvl2pPr marL="3344760" indent="-1286453" algn="l" defTabSz="4116629" rtl="0" eaLnBrk="1" latinLnBrk="0" hangingPunct="1">
        <a:spcBef>
          <a:spcPct val="20000"/>
        </a:spcBef>
        <a:buFont typeface="Arial" panose="020B0604020202020204" pitchFamily="34" charset="0"/>
        <a:buChar char="–"/>
        <a:defRPr sz="12595" kern="1200">
          <a:solidFill>
            <a:schemeClr val="tx1"/>
          </a:solidFill>
          <a:latin typeface="+mn-lt"/>
          <a:ea typeface="+mn-ea"/>
          <a:cs typeface="+mn-cs"/>
        </a:defRPr>
      </a:lvl2pPr>
      <a:lvl3pPr marL="5145778" indent="-1029149" algn="l" defTabSz="4116629" rtl="0" eaLnBrk="1" latinLnBrk="0" hangingPunct="1">
        <a:spcBef>
          <a:spcPct val="20000"/>
        </a:spcBef>
        <a:buFont typeface="Arial" panose="020B0604020202020204" pitchFamily="34" charset="0"/>
        <a:buChar char="•"/>
        <a:defRPr sz="10795" kern="1200">
          <a:solidFill>
            <a:schemeClr val="tx1"/>
          </a:solidFill>
          <a:latin typeface="+mn-lt"/>
          <a:ea typeface="+mn-ea"/>
          <a:cs typeface="+mn-cs"/>
        </a:defRPr>
      </a:lvl3pPr>
      <a:lvl4pPr marL="7204109" indent="-1029149" algn="l" defTabSz="4116629" rtl="0" eaLnBrk="1" latinLnBrk="0" hangingPunct="1">
        <a:spcBef>
          <a:spcPct val="20000"/>
        </a:spcBef>
        <a:buFont typeface="Arial" panose="020B0604020202020204" pitchFamily="34" charset="0"/>
        <a:buChar char="–"/>
        <a:defRPr sz="9000" kern="1200">
          <a:solidFill>
            <a:schemeClr val="tx1"/>
          </a:solidFill>
          <a:latin typeface="+mn-lt"/>
          <a:ea typeface="+mn-ea"/>
          <a:cs typeface="+mn-cs"/>
        </a:defRPr>
      </a:lvl4pPr>
      <a:lvl5pPr marL="9262411" indent="-1029149" algn="l" defTabSz="4116629" rtl="0" eaLnBrk="1" latinLnBrk="0" hangingPunct="1">
        <a:spcBef>
          <a:spcPct val="20000"/>
        </a:spcBef>
        <a:buFont typeface="Arial" panose="020B0604020202020204" pitchFamily="34" charset="0"/>
        <a:buChar char="»"/>
        <a:defRPr sz="9000" kern="1200">
          <a:solidFill>
            <a:schemeClr val="tx1"/>
          </a:solidFill>
          <a:latin typeface="+mn-lt"/>
          <a:ea typeface="+mn-ea"/>
          <a:cs typeface="+mn-cs"/>
        </a:defRPr>
      </a:lvl5pPr>
      <a:lvl6pPr marL="11320742" indent="-1029149" algn="l" defTabSz="4116629" rtl="0" eaLnBrk="1" latinLnBrk="0" hangingPunct="1">
        <a:spcBef>
          <a:spcPct val="20000"/>
        </a:spcBef>
        <a:buFont typeface="Arial" panose="020B0604020202020204" pitchFamily="34" charset="0"/>
        <a:buChar char="•"/>
        <a:defRPr sz="9000" kern="1200">
          <a:solidFill>
            <a:schemeClr val="tx1"/>
          </a:solidFill>
          <a:latin typeface="+mn-lt"/>
          <a:ea typeface="+mn-ea"/>
          <a:cs typeface="+mn-cs"/>
        </a:defRPr>
      </a:lvl6pPr>
      <a:lvl7pPr marL="13379040" indent="-1029149" algn="l" defTabSz="4116629" rtl="0" eaLnBrk="1" latinLnBrk="0" hangingPunct="1">
        <a:spcBef>
          <a:spcPct val="20000"/>
        </a:spcBef>
        <a:buFont typeface="Arial" panose="020B0604020202020204" pitchFamily="34" charset="0"/>
        <a:buChar char="•"/>
        <a:defRPr sz="9000" kern="1200">
          <a:solidFill>
            <a:schemeClr val="tx1"/>
          </a:solidFill>
          <a:latin typeface="+mn-lt"/>
          <a:ea typeface="+mn-ea"/>
          <a:cs typeface="+mn-cs"/>
        </a:defRPr>
      </a:lvl7pPr>
      <a:lvl8pPr marL="15437371" indent="-1029149" algn="l" defTabSz="4116629" rtl="0" eaLnBrk="1" latinLnBrk="0" hangingPunct="1">
        <a:spcBef>
          <a:spcPct val="20000"/>
        </a:spcBef>
        <a:buFont typeface="Arial" panose="020B0604020202020204" pitchFamily="34" charset="0"/>
        <a:buChar char="•"/>
        <a:defRPr sz="9000" kern="1200">
          <a:solidFill>
            <a:schemeClr val="tx1"/>
          </a:solidFill>
          <a:latin typeface="+mn-lt"/>
          <a:ea typeface="+mn-ea"/>
          <a:cs typeface="+mn-cs"/>
        </a:defRPr>
      </a:lvl8pPr>
      <a:lvl9pPr marL="17495669" indent="-1029149" algn="l" defTabSz="4116629" rtl="0" eaLnBrk="1" latinLnBrk="0" hangingPunct="1">
        <a:spcBef>
          <a:spcPct val="20000"/>
        </a:spcBef>
        <a:buFont typeface="Arial" panose="020B0604020202020204" pitchFamily="34" charset="0"/>
        <a:buChar char="•"/>
        <a:defRPr sz="9000" kern="1200">
          <a:solidFill>
            <a:schemeClr val="tx1"/>
          </a:solidFill>
          <a:latin typeface="+mn-lt"/>
          <a:ea typeface="+mn-ea"/>
          <a:cs typeface="+mn-cs"/>
        </a:defRPr>
      </a:lvl9pPr>
    </p:bodyStyle>
    <p:otherStyle>
      <a:defPPr>
        <a:defRPr lang="en-US"/>
      </a:defPPr>
      <a:lvl1pPr marL="0" algn="l" defTabSz="4116629" rtl="0" eaLnBrk="1" latinLnBrk="0" hangingPunct="1">
        <a:defRPr sz="8141" kern="1200">
          <a:solidFill>
            <a:schemeClr val="tx1"/>
          </a:solidFill>
          <a:latin typeface="+mn-lt"/>
          <a:ea typeface="+mn-ea"/>
          <a:cs typeface="+mn-cs"/>
        </a:defRPr>
      </a:lvl1pPr>
      <a:lvl2pPr marL="2058302" algn="l" defTabSz="4116629" rtl="0" eaLnBrk="1" latinLnBrk="0" hangingPunct="1">
        <a:defRPr sz="8141" kern="1200">
          <a:solidFill>
            <a:schemeClr val="tx1"/>
          </a:solidFill>
          <a:latin typeface="+mn-lt"/>
          <a:ea typeface="+mn-ea"/>
          <a:cs typeface="+mn-cs"/>
        </a:defRPr>
      </a:lvl2pPr>
      <a:lvl3pPr marL="4116629" algn="l" defTabSz="4116629" rtl="0" eaLnBrk="1" latinLnBrk="0" hangingPunct="1">
        <a:defRPr sz="8141" kern="1200">
          <a:solidFill>
            <a:schemeClr val="tx1"/>
          </a:solidFill>
          <a:latin typeface="+mn-lt"/>
          <a:ea typeface="+mn-ea"/>
          <a:cs typeface="+mn-cs"/>
        </a:defRPr>
      </a:lvl3pPr>
      <a:lvl4pPr marL="6174946" algn="l" defTabSz="4116629" rtl="0" eaLnBrk="1" latinLnBrk="0" hangingPunct="1">
        <a:defRPr sz="8141" kern="1200">
          <a:solidFill>
            <a:schemeClr val="tx1"/>
          </a:solidFill>
          <a:latin typeface="+mn-lt"/>
          <a:ea typeface="+mn-ea"/>
          <a:cs typeface="+mn-cs"/>
        </a:defRPr>
      </a:lvl4pPr>
      <a:lvl5pPr marL="8233258" algn="l" defTabSz="4116629" rtl="0" eaLnBrk="1" latinLnBrk="0" hangingPunct="1">
        <a:defRPr sz="8141" kern="1200">
          <a:solidFill>
            <a:schemeClr val="tx1"/>
          </a:solidFill>
          <a:latin typeface="+mn-lt"/>
          <a:ea typeface="+mn-ea"/>
          <a:cs typeface="+mn-cs"/>
        </a:defRPr>
      </a:lvl5pPr>
      <a:lvl6pPr marL="10291565" algn="l" defTabSz="4116629" rtl="0" eaLnBrk="1" latinLnBrk="0" hangingPunct="1">
        <a:defRPr sz="8141" kern="1200">
          <a:solidFill>
            <a:schemeClr val="tx1"/>
          </a:solidFill>
          <a:latin typeface="+mn-lt"/>
          <a:ea typeface="+mn-ea"/>
          <a:cs typeface="+mn-cs"/>
        </a:defRPr>
      </a:lvl6pPr>
      <a:lvl7pPr marL="12349886" algn="l" defTabSz="4116629" rtl="0" eaLnBrk="1" latinLnBrk="0" hangingPunct="1">
        <a:defRPr sz="8141" kern="1200">
          <a:solidFill>
            <a:schemeClr val="tx1"/>
          </a:solidFill>
          <a:latin typeface="+mn-lt"/>
          <a:ea typeface="+mn-ea"/>
          <a:cs typeface="+mn-cs"/>
        </a:defRPr>
      </a:lvl7pPr>
      <a:lvl8pPr marL="14408194" algn="l" defTabSz="4116629" rtl="0" eaLnBrk="1" latinLnBrk="0" hangingPunct="1">
        <a:defRPr sz="8141" kern="1200">
          <a:solidFill>
            <a:schemeClr val="tx1"/>
          </a:solidFill>
          <a:latin typeface="+mn-lt"/>
          <a:ea typeface="+mn-ea"/>
          <a:cs typeface="+mn-cs"/>
        </a:defRPr>
      </a:lvl8pPr>
      <a:lvl9pPr marL="16466520" algn="l" defTabSz="4116629" rtl="0" eaLnBrk="1" latinLnBrk="0" hangingPunct="1">
        <a:defRPr sz="814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hyperlink" Target="https://doi.org/10.3389/fnins.2023.1151478" TargetMode="External"/><Relationship Id="rId18" Type="http://schemas.openxmlformats.org/officeDocument/2006/relationships/image" Target="../media/image13.png"/><Relationship Id="rId26" Type="http://schemas.openxmlformats.org/officeDocument/2006/relationships/image" Target="../media/image21.jpeg"/><Relationship Id="rId3" Type="http://schemas.microsoft.com/office/2018/10/relationships/comments" Target="../comments/modernComment_100_C06C61E7.xml"/><Relationship Id="rId21" Type="http://schemas.openxmlformats.org/officeDocument/2006/relationships/image" Target="../media/image16.png"/><Relationship Id="rId7" Type="http://schemas.openxmlformats.org/officeDocument/2006/relationships/image" Target="../media/image4.png"/><Relationship Id="rId12" Type="http://schemas.openxmlformats.org/officeDocument/2006/relationships/image" Target="../media/image9.jpeg"/><Relationship Id="rId17" Type="http://schemas.openxmlformats.org/officeDocument/2006/relationships/image" Target="../media/image12.png"/><Relationship Id="rId25" Type="http://schemas.openxmlformats.org/officeDocument/2006/relationships/image" Target="../media/image20.png"/><Relationship Id="rId33" Type="http://schemas.openxmlformats.org/officeDocument/2006/relationships/image" Target="../media/image28.png"/><Relationship Id="rId2" Type="http://schemas.openxmlformats.org/officeDocument/2006/relationships/notesSlide" Target="../notesSlides/notesSlide1.xml"/><Relationship Id="rId16" Type="http://schemas.openxmlformats.org/officeDocument/2006/relationships/image" Target="../media/image11.png"/><Relationship Id="rId20" Type="http://schemas.openxmlformats.org/officeDocument/2006/relationships/image" Target="../media/image15.png"/><Relationship Id="rId29" Type="http://schemas.openxmlformats.org/officeDocument/2006/relationships/image" Target="../media/image24.png"/><Relationship Id="rId1" Type="http://schemas.openxmlformats.org/officeDocument/2006/relationships/slideLayout" Target="../slideLayouts/slideLayout6.xml"/><Relationship Id="rId6" Type="http://schemas.openxmlformats.org/officeDocument/2006/relationships/image" Target="../media/image3.png"/><Relationship Id="rId11" Type="http://schemas.openxmlformats.org/officeDocument/2006/relationships/image" Target="../media/image8.png"/><Relationship Id="rId24" Type="http://schemas.openxmlformats.org/officeDocument/2006/relationships/image" Target="../media/image19.png"/><Relationship Id="rId32" Type="http://schemas.openxmlformats.org/officeDocument/2006/relationships/image" Target="../media/image27.png"/><Relationship Id="rId5" Type="http://schemas.openxmlformats.org/officeDocument/2006/relationships/image" Target="../media/image2.png"/><Relationship Id="rId15" Type="http://schemas.openxmlformats.org/officeDocument/2006/relationships/image" Target="../media/image10.png"/><Relationship Id="rId23" Type="http://schemas.openxmlformats.org/officeDocument/2006/relationships/image" Target="../media/image18.png"/><Relationship Id="rId28" Type="http://schemas.openxmlformats.org/officeDocument/2006/relationships/image" Target="../media/image23.jpeg"/><Relationship Id="rId10" Type="http://schemas.openxmlformats.org/officeDocument/2006/relationships/image" Target="../media/image7.png"/><Relationship Id="rId19" Type="http://schemas.openxmlformats.org/officeDocument/2006/relationships/image" Target="../media/image14.png"/><Relationship Id="rId31" Type="http://schemas.openxmlformats.org/officeDocument/2006/relationships/image" Target="../media/image26.pn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hyperlink" Target="https://github.com/Mahathir-Khan/Bio257_2025_Project/blob/main/Papers/References_Master_List.md" TargetMode="External"/><Relationship Id="rId22" Type="http://schemas.openxmlformats.org/officeDocument/2006/relationships/image" Target="../media/image17.png"/><Relationship Id="rId27" Type="http://schemas.openxmlformats.org/officeDocument/2006/relationships/image" Target="../media/image22.jpeg"/><Relationship Id="rId30" Type="http://schemas.openxmlformats.org/officeDocument/2006/relationships/image" Target="../media/image25.jpe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8" name="Picture 4" descr="Frontiers | The microbiota-gut-brain axis in stress and depression">
            <a:extLst>
              <a:ext uri="{FF2B5EF4-FFF2-40B4-BE49-F238E27FC236}">
                <a16:creationId xmlns:a16="http://schemas.microsoft.com/office/drawing/2014/main" id="{28D82DCB-F1E5-F521-5A0A-46980BE6ED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4123" y="11694423"/>
            <a:ext cx="3903210" cy="5485593"/>
          </a:xfrm>
          <a:prstGeom prst="rect">
            <a:avLst/>
          </a:prstGeom>
          <a:noFill/>
          <a:extLst>
            <a:ext uri="{909E8E84-426E-40DD-AFC4-6F175D3DCCD1}">
              <a14:hiddenFill xmlns:a14="http://schemas.microsoft.com/office/drawing/2010/main">
                <a:solidFill>
                  <a:srgbClr val="FFFFFF"/>
                </a:solidFill>
              </a14:hiddenFill>
            </a:ext>
          </a:extLst>
        </p:spPr>
      </p:pic>
      <p:pic>
        <p:nvPicPr>
          <p:cNvPr id="491" name="Picture 490" descr="A screenshot of a graph&#10;&#10;AI-generated content may be incorrect.">
            <a:extLst>
              <a:ext uri="{FF2B5EF4-FFF2-40B4-BE49-F238E27FC236}">
                <a16:creationId xmlns:a16="http://schemas.microsoft.com/office/drawing/2014/main" id="{DF46AA2A-E218-288E-13BE-68A0BAEC2BF4}"/>
              </a:ext>
            </a:extLst>
          </p:cNvPr>
          <p:cNvPicPr>
            <a:picLocks noChangeAspect="1"/>
          </p:cNvPicPr>
          <p:nvPr/>
        </p:nvPicPr>
        <p:blipFill>
          <a:blip r:embed="rId5" cstate="print">
            <a:extLst>
              <a:ext uri="{28A0092B-C50C-407E-A947-70E740481C1C}">
                <a14:useLocalDpi xmlns:a14="http://schemas.microsoft.com/office/drawing/2010/main" val="0"/>
              </a:ext>
            </a:extLst>
          </a:blip>
          <a:srcRect t="5419"/>
          <a:stretch>
            <a:fillRect/>
          </a:stretch>
        </p:blipFill>
        <p:spPr>
          <a:xfrm>
            <a:off x="16043381" y="12760623"/>
            <a:ext cx="12220662" cy="4953629"/>
          </a:xfrm>
          <a:prstGeom prst="rect">
            <a:avLst/>
          </a:prstGeom>
        </p:spPr>
      </p:pic>
      <p:pic>
        <p:nvPicPr>
          <p:cNvPr id="50" name="Picture 49" descr="A graph with blue dots and white text&#10;&#10;Description automatically generated">
            <a:extLst>
              <a:ext uri="{FF2B5EF4-FFF2-40B4-BE49-F238E27FC236}">
                <a16:creationId xmlns:a16="http://schemas.microsoft.com/office/drawing/2014/main" id="{C939BA3D-EAB6-1355-D143-3FE967482E3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028256" y="25379992"/>
            <a:ext cx="6758298" cy="3379149"/>
          </a:xfrm>
          <a:prstGeom prst="rect">
            <a:avLst/>
          </a:prstGeom>
        </p:spPr>
      </p:pic>
      <p:pic>
        <p:nvPicPr>
          <p:cNvPr id="36" name="Picture 35" descr="A graph of different colored boxes&#10;&#10;Description automatically generated with medium confidence">
            <a:extLst>
              <a:ext uri="{FF2B5EF4-FFF2-40B4-BE49-F238E27FC236}">
                <a16:creationId xmlns:a16="http://schemas.microsoft.com/office/drawing/2014/main" id="{8BEF9A54-B055-D271-AEB2-BE355E60BA7E}"/>
              </a:ext>
            </a:extLst>
          </p:cNvPr>
          <p:cNvPicPr>
            <a:picLocks noChangeAspect="1"/>
          </p:cNvPicPr>
          <p:nvPr/>
        </p:nvPicPr>
        <p:blipFill rotWithShape="1">
          <a:blip r:embed="rId7">
            <a:extLst>
              <a:ext uri="{28A0092B-C50C-407E-A947-70E740481C1C}">
                <a14:useLocalDpi xmlns:a14="http://schemas.microsoft.com/office/drawing/2010/main" val="0"/>
              </a:ext>
            </a:extLst>
          </a:blip>
          <a:srcRect t="6622" r="1020"/>
          <a:stretch/>
        </p:blipFill>
        <p:spPr>
          <a:xfrm>
            <a:off x="6655172" y="25858966"/>
            <a:ext cx="7936711" cy="5348214"/>
          </a:xfrm>
          <a:prstGeom prst="rect">
            <a:avLst/>
          </a:prstGeom>
        </p:spPr>
      </p:pic>
      <p:pic>
        <p:nvPicPr>
          <p:cNvPr id="22" name="Picture 21" descr="A diagram of a condition&#10;&#10;Description automatically generated">
            <a:extLst>
              <a:ext uri="{FF2B5EF4-FFF2-40B4-BE49-F238E27FC236}">
                <a16:creationId xmlns:a16="http://schemas.microsoft.com/office/drawing/2014/main" id="{40B407C7-D44F-D1CE-A20A-6DFB40AED735}"/>
              </a:ext>
            </a:extLst>
          </p:cNvPr>
          <p:cNvPicPr>
            <a:picLocks noChangeAspect="1"/>
          </p:cNvPicPr>
          <p:nvPr/>
        </p:nvPicPr>
        <p:blipFill>
          <a:blip r:embed="rId8" cstate="print">
            <a:extLst>
              <a:ext uri="{28A0092B-C50C-407E-A947-70E740481C1C}">
                <a14:useLocalDpi xmlns:a14="http://schemas.microsoft.com/office/drawing/2010/main" val="0"/>
              </a:ext>
            </a:extLst>
          </a:blip>
          <a:srcRect t="7236"/>
          <a:stretch>
            <a:fillRect/>
          </a:stretch>
        </p:blipFill>
        <p:spPr>
          <a:xfrm>
            <a:off x="28717542" y="8332947"/>
            <a:ext cx="7335312" cy="5103413"/>
          </a:xfrm>
          <a:prstGeom prst="rect">
            <a:avLst/>
          </a:prstGeom>
        </p:spPr>
      </p:pic>
      <p:pic>
        <p:nvPicPr>
          <p:cNvPr id="9" name="Picture 8" descr="A diagram of a cell&#10;&#10;Description automatically generated with medium confidence">
            <a:extLst>
              <a:ext uri="{FF2B5EF4-FFF2-40B4-BE49-F238E27FC236}">
                <a16:creationId xmlns:a16="http://schemas.microsoft.com/office/drawing/2014/main" id="{0E26902F-1111-7B7A-865F-D2587C781AC9}"/>
              </a:ext>
            </a:extLst>
          </p:cNvPr>
          <p:cNvPicPr>
            <a:picLocks noChangeAspect="1"/>
          </p:cNvPicPr>
          <p:nvPr/>
        </p:nvPicPr>
        <p:blipFill>
          <a:blip r:embed="rId9" cstate="print">
            <a:extLst>
              <a:ext uri="{28A0092B-C50C-407E-A947-70E740481C1C}">
                <a14:useLocalDpi xmlns:a14="http://schemas.microsoft.com/office/drawing/2010/main" val="0"/>
              </a:ext>
            </a:extLst>
          </a:blip>
          <a:srcRect t="4176"/>
          <a:stretch>
            <a:fillRect/>
          </a:stretch>
        </p:blipFill>
        <p:spPr>
          <a:xfrm>
            <a:off x="36342638" y="7941002"/>
            <a:ext cx="6770418" cy="5406361"/>
          </a:xfrm>
          <a:prstGeom prst="rect">
            <a:avLst/>
          </a:prstGeom>
        </p:spPr>
      </p:pic>
      <p:pic>
        <p:nvPicPr>
          <p:cNvPr id="6" name="Picture 5" descr="A diagram of a diagram with a red and blue box&#10;&#10;Description automatically generated with medium confidence">
            <a:extLst>
              <a:ext uri="{FF2B5EF4-FFF2-40B4-BE49-F238E27FC236}">
                <a16:creationId xmlns:a16="http://schemas.microsoft.com/office/drawing/2014/main" id="{2D39009A-E980-057F-D176-9F35056CCE4E}"/>
              </a:ext>
            </a:extLst>
          </p:cNvPr>
          <p:cNvPicPr>
            <a:picLocks noChangeAspect="1"/>
          </p:cNvPicPr>
          <p:nvPr/>
        </p:nvPicPr>
        <p:blipFill rotWithShape="1">
          <a:blip r:embed="rId10">
            <a:extLst>
              <a:ext uri="{28A0092B-C50C-407E-A947-70E740481C1C}">
                <a14:useLocalDpi xmlns:a14="http://schemas.microsoft.com/office/drawing/2010/main" val="0"/>
              </a:ext>
            </a:extLst>
          </a:blip>
          <a:srcRect t="6085" r="31417"/>
          <a:stretch/>
        </p:blipFill>
        <p:spPr>
          <a:xfrm>
            <a:off x="2064885" y="25755335"/>
            <a:ext cx="4528854" cy="5432637"/>
          </a:xfrm>
          <a:prstGeom prst="rect">
            <a:avLst/>
          </a:prstGeom>
        </p:spPr>
      </p:pic>
      <p:pic>
        <p:nvPicPr>
          <p:cNvPr id="8" name="Picture 7" descr="A diagram of a diagram with red and blue circles&#10;&#10;Description automatically generated">
            <a:extLst>
              <a:ext uri="{FF2B5EF4-FFF2-40B4-BE49-F238E27FC236}">
                <a16:creationId xmlns:a16="http://schemas.microsoft.com/office/drawing/2014/main" id="{0D905F38-2ABB-AF03-D315-8B3D079975A6}"/>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t="6103" r="24320"/>
          <a:stretch/>
        </p:blipFill>
        <p:spPr>
          <a:xfrm>
            <a:off x="16891990" y="7978539"/>
            <a:ext cx="4945814" cy="4602235"/>
          </a:xfrm>
          <a:prstGeom prst="rect">
            <a:avLst/>
          </a:prstGeom>
        </p:spPr>
      </p:pic>
      <p:cxnSp>
        <p:nvCxnSpPr>
          <p:cNvPr id="5" name="Straight Connector 4"/>
          <p:cNvCxnSpPr>
            <a:cxnSpLocks/>
          </p:cNvCxnSpPr>
          <p:nvPr/>
        </p:nvCxnSpPr>
        <p:spPr>
          <a:xfrm>
            <a:off x="849094" y="3596318"/>
            <a:ext cx="42141596" cy="15669"/>
          </a:xfrm>
          <a:prstGeom prst="line">
            <a:avLst/>
          </a:prstGeom>
          <a:ln w="635000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97709" y="32468933"/>
            <a:ext cx="43891200" cy="0"/>
          </a:xfrm>
          <a:prstGeom prst="line">
            <a:avLst/>
          </a:prstGeom>
          <a:ln w="571500" cmpd="sng">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a:off x="25349" y="32285837"/>
            <a:ext cx="43891200" cy="0"/>
          </a:xfrm>
          <a:prstGeom prst="line">
            <a:avLst/>
          </a:prstGeom>
          <a:ln w="127000" cmpd="sng">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a:off x="-43161" y="32690930"/>
            <a:ext cx="43891200" cy="0"/>
          </a:xfrm>
          <a:prstGeom prst="line">
            <a:avLst/>
          </a:prstGeom>
          <a:ln w="127000" cmpd="sng">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7987" y="12016"/>
            <a:ext cx="3914611" cy="3599971"/>
          </a:xfrm>
          <a:prstGeom prst="rect">
            <a:avLst/>
          </a:prstGeom>
        </p:spPr>
      </p:pic>
      <p:sp>
        <p:nvSpPr>
          <p:cNvPr id="94" name="Title 2"/>
          <p:cNvSpPr txBox="1">
            <a:spLocks/>
          </p:cNvSpPr>
          <p:nvPr/>
        </p:nvSpPr>
        <p:spPr>
          <a:xfrm>
            <a:off x="3914611" y="2038855"/>
            <a:ext cx="36061978" cy="1621253"/>
          </a:xfrm>
          <a:prstGeom prst="rect">
            <a:avLst/>
          </a:prstGeom>
        </p:spPr>
        <p:txBody>
          <a:bodyPr vert="horz" lIns="78331" tIns="39168" rIns="78331" bIns="39168" rtlCol="0" anchor="b">
            <a:noAutofit/>
          </a:bodyPr>
          <a:lstStyle>
            <a:lvl1pPr algn="ctr" defTabSz="914309" rtl="0" eaLnBrk="1" latinLnBrk="0" hangingPunct="1">
              <a:spcBef>
                <a:spcPct val="0"/>
              </a:spcBef>
              <a:buNone/>
              <a:defRPr sz="7200" b="0" kern="1200" cap="none" spc="0">
                <a:ln w="13970" cmpd="sng">
                  <a:solidFill>
                    <a:srgbClr val="FFFFFF"/>
                  </a:solidFill>
                  <a:prstDash val="solid"/>
                </a:ln>
                <a:solidFill>
                  <a:srgbClr val="FFFFFF"/>
                </a:solidFill>
                <a:effectLst>
                  <a:outerShdw blurRad="63500" dir="3600000" algn="tl" rotWithShape="0">
                    <a:srgbClr val="000000">
                      <a:alpha val="70000"/>
                    </a:srgbClr>
                  </a:outerShdw>
                </a:effectLst>
                <a:latin typeface="+mj-lt"/>
                <a:ea typeface="+mj-ea"/>
                <a:cs typeface="+mj-cs"/>
              </a:defRPr>
            </a:lvl1pPr>
          </a:lstStyle>
          <a:p>
            <a:pPr defTabSz="783221">
              <a:defRPr/>
            </a:pPr>
            <a:r>
              <a:rPr lang="en-US" sz="8568" b="1">
                <a:ln w="18415" cmpd="sng">
                  <a:solidFill>
                    <a:srgbClr val="FFFFFF"/>
                  </a:solidFill>
                  <a:prstDash val="solid"/>
                </a:ln>
                <a:latin typeface="Arial" panose="020B0604020202020204" pitchFamily="34" charset="0"/>
                <a:cs typeface="Arial" panose="020B0604020202020204" pitchFamily="34" charset="0"/>
              </a:rPr>
              <a:t>Think with your Gut: Linking Microbiome Phylogenetics to Brain Cell Regulation in Alzheimer's Disease</a:t>
            </a:r>
          </a:p>
        </p:txBody>
      </p:sp>
      <p:sp>
        <p:nvSpPr>
          <p:cNvPr id="95" name="Subtitle 1"/>
          <p:cNvSpPr txBox="1">
            <a:spLocks/>
          </p:cNvSpPr>
          <p:nvPr/>
        </p:nvSpPr>
        <p:spPr>
          <a:xfrm>
            <a:off x="4805615" y="4395662"/>
            <a:ext cx="34434614" cy="1302541"/>
          </a:xfrm>
          <a:prstGeom prst="rect">
            <a:avLst/>
          </a:prstGeom>
        </p:spPr>
        <p:txBody>
          <a:bodyPr vert="horz" lIns="78331" tIns="39168" rIns="78331" bIns="39168" rtlCol="0" anchor="t">
            <a:noAutofit/>
          </a:bodyPr>
          <a:lstStyle>
            <a:lvl1pPr marL="0" indent="0" algn="ctr" defTabSz="914400" rtl="0" eaLnBrk="1" latinLnBrk="0" hangingPunct="1">
              <a:spcBef>
                <a:spcPct val="20000"/>
              </a:spcBef>
              <a:buClr>
                <a:schemeClr val="accent1"/>
              </a:buClr>
              <a:buSzPct val="75000"/>
              <a:buFont typeface="Wingdings" pitchFamily="2" charset="2"/>
              <a:buNone/>
              <a:defRPr sz="2000" kern="1200">
                <a:solidFill>
                  <a:srgbClr val="FFFFFF"/>
                </a:solidFill>
                <a:latin typeface="+mn-lt"/>
                <a:ea typeface="+mn-ea"/>
                <a:cs typeface="+mn-cs"/>
              </a:defRPr>
            </a:lvl1pPr>
            <a:lvl2pPr marL="457200" indent="0" algn="ctr" defTabSz="914400" rtl="0" eaLnBrk="1" latinLnBrk="0" hangingPunct="1">
              <a:spcBef>
                <a:spcPct val="20000"/>
              </a:spcBef>
              <a:buClr>
                <a:schemeClr val="accent2"/>
              </a:buClr>
              <a:buSzPct val="85000"/>
              <a:buFont typeface="Courier New" pitchFamily="49" charset="0"/>
              <a:buNone/>
              <a:defRPr sz="20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3"/>
              </a:buClr>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4"/>
              </a:buClr>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5"/>
              </a:buClr>
              <a:buFont typeface="Arial" pitchFamily="34" charset="0"/>
              <a:buNone/>
              <a:defRPr sz="14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6"/>
              </a:buClr>
              <a:buFont typeface="Arial" pitchFamily="34" charset="0"/>
              <a:buNone/>
              <a:defRPr sz="1400" kern="120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1"/>
              </a:buClr>
              <a:buFont typeface="Arial" pitchFamily="34" charset="0"/>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4"/>
              </a:buClr>
              <a:buFont typeface="Arial" pitchFamily="34" charset="0"/>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5"/>
              </a:buClr>
              <a:buFont typeface="Arial" pitchFamily="34" charset="0"/>
              <a:buNone/>
              <a:defRPr sz="1400" kern="1200">
                <a:solidFill>
                  <a:schemeClr val="tx1">
                    <a:tint val="75000"/>
                  </a:schemeClr>
                </a:solidFill>
                <a:latin typeface="+mn-lt"/>
                <a:ea typeface="+mn-ea"/>
                <a:cs typeface="+mn-cs"/>
              </a:defRPr>
            </a:lvl9pPr>
          </a:lstStyle>
          <a:p>
            <a:pPr lvl="0">
              <a:buClr>
                <a:srgbClr val="F4680B"/>
              </a:buClr>
            </a:pPr>
            <a:r>
              <a:rPr lang="en-US" sz="3600">
                <a:ln w="18415" cmpd="sng">
                  <a:solidFill>
                    <a:srgbClr val="FFFFFF"/>
                  </a:solidFill>
                  <a:prstDash val="solid"/>
                </a:ln>
                <a:effectLst>
                  <a:outerShdw blurRad="63500" dir="3600000" algn="tl" rotWithShape="0">
                    <a:srgbClr val="000000">
                      <a:alpha val="70000"/>
                    </a:srgbClr>
                  </a:outerShdw>
                </a:effectLst>
                <a:latin typeface="Arial"/>
                <a:cs typeface="Arial"/>
              </a:rPr>
              <a:t>Mahathir Khan </a:t>
            </a:r>
            <a:r>
              <a:rPr lang="en-US" sz="3600" baseline="30000">
                <a:ln w="18415" cmpd="sng">
                  <a:solidFill>
                    <a:srgbClr val="FFFFFF"/>
                  </a:solidFill>
                  <a:prstDash val="solid"/>
                </a:ln>
                <a:effectLst>
                  <a:outerShdw blurRad="63500" dir="3600000" algn="tl" rotWithShape="0">
                    <a:srgbClr val="000000">
                      <a:alpha val="70000"/>
                    </a:srgbClr>
                  </a:outerShdw>
                </a:effectLst>
                <a:latin typeface="Arial"/>
                <a:cs typeface="Arial"/>
              </a:rPr>
              <a:t>[1,2] </a:t>
            </a:r>
            <a:r>
              <a:rPr lang="en-US" sz="3600">
                <a:ln w="18415" cmpd="sng">
                  <a:solidFill>
                    <a:srgbClr val="FFFFFF"/>
                  </a:solidFill>
                  <a:prstDash val="solid"/>
                </a:ln>
                <a:effectLst>
                  <a:outerShdw blurRad="63500" dir="3600000" algn="tl" rotWithShape="0">
                    <a:srgbClr val="000000">
                      <a:alpha val="70000"/>
                    </a:srgbClr>
                  </a:outerShdw>
                </a:effectLst>
                <a:latin typeface="Arial"/>
                <a:cs typeface="Arial"/>
              </a:rPr>
              <a:t>, Sofia Kaplan </a:t>
            </a:r>
            <a:r>
              <a:rPr lang="en-US" sz="3600" baseline="30000">
                <a:ln w="18415" cmpd="sng">
                  <a:solidFill>
                    <a:srgbClr val="FFFFFF"/>
                  </a:solidFill>
                  <a:prstDash val="solid"/>
                </a:ln>
                <a:effectLst>
                  <a:outerShdw blurRad="63500" dir="3600000" algn="tl" rotWithShape="0">
                    <a:srgbClr val="000000">
                      <a:alpha val="70000"/>
                    </a:srgbClr>
                  </a:outerShdw>
                </a:effectLst>
                <a:latin typeface="Arial"/>
                <a:cs typeface="Arial"/>
              </a:rPr>
              <a:t>[2]</a:t>
            </a:r>
            <a:r>
              <a:rPr lang="en-US" sz="3600">
                <a:ln w="18415" cmpd="sng">
                  <a:solidFill>
                    <a:srgbClr val="FFFFFF"/>
                  </a:solidFill>
                  <a:prstDash val="solid"/>
                </a:ln>
                <a:effectLst>
                  <a:outerShdw blurRad="63500" dir="3600000" algn="tl" rotWithShape="0">
                    <a:srgbClr val="000000">
                      <a:alpha val="70000"/>
                    </a:srgbClr>
                  </a:outerShdw>
                </a:effectLst>
                <a:latin typeface="Arial"/>
                <a:cs typeface="Arial"/>
              </a:rPr>
              <a:t>, Aman Mulla </a:t>
            </a:r>
            <a:r>
              <a:rPr lang="en-US" sz="3600" baseline="30000">
                <a:ln w="18415" cmpd="sng">
                  <a:solidFill>
                    <a:srgbClr val="FFFFFF"/>
                  </a:solidFill>
                  <a:prstDash val="solid"/>
                </a:ln>
                <a:effectLst>
                  <a:outerShdw blurRad="63500" dir="3600000" algn="tl" rotWithShape="0">
                    <a:srgbClr val="000000">
                      <a:alpha val="70000"/>
                    </a:srgbClr>
                  </a:outerShdw>
                </a:effectLst>
                <a:latin typeface="Arial"/>
                <a:cs typeface="Arial"/>
              </a:rPr>
              <a:t>[2]</a:t>
            </a:r>
            <a:r>
              <a:rPr lang="en-US" sz="3600">
                <a:ln w="18415" cmpd="sng">
                  <a:solidFill>
                    <a:srgbClr val="FFFFFF"/>
                  </a:solidFill>
                  <a:prstDash val="solid"/>
                </a:ln>
                <a:effectLst>
                  <a:outerShdw blurRad="63500" dir="3600000" algn="tl" rotWithShape="0">
                    <a:srgbClr val="000000">
                      <a:alpha val="70000"/>
                    </a:srgbClr>
                  </a:outerShdw>
                </a:effectLst>
                <a:latin typeface="Arial"/>
                <a:cs typeface="Arial"/>
              </a:rPr>
              <a:t>, Kelechi Ejiofor </a:t>
            </a:r>
            <a:r>
              <a:rPr lang="en-US" sz="3600" baseline="30000">
                <a:ln w="18415" cmpd="sng">
                  <a:solidFill>
                    <a:srgbClr val="FFFFFF"/>
                  </a:solidFill>
                  <a:prstDash val="solid"/>
                </a:ln>
                <a:effectLst>
                  <a:outerShdw blurRad="63500" dir="3600000" algn="tl" rotWithShape="0">
                    <a:srgbClr val="000000">
                      <a:alpha val="70000"/>
                    </a:srgbClr>
                  </a:outerShdw>
                </a:effectLst>
                <a:latin typeface="Arial"/>
                <a:cs typeface="Arial"/>
              </a:rPr>
              <a:t>[2]</a:t>
            </a:r>
          </a:p>
          <a:p>
            <a:pPr lvl="0">
              <a:buClr>
                <a:srgbClr val="F4680B"/>
              </a:buClr>
            </a:pPr>
            <a:r>
              <a:rPr lang="en-US" sz="3600" baseline="30000">
                <a:ln w="18415" cmpd="sng">
                  <a:solidFill>
                    <a:srgbClr val="FFFFFF"/>
                  </a:solidFill>
                  <a:prstDash val="solid"/>
                </a:ln>
                <a:effectLst>
                  <a:outerShdw blurRad="63500" dir="3600000" algn="tl" rotWithShape="0">
                    <a:srgbClr val="000000">
                      <a:alpha val="70000"/>
                    </a:srgbClr>
                  </a:outerShdw>
                </a:effectLst>
                <a:latin typeface="Arial"/>
                <a:cs typeface="Arial"/>
              </a:rPr>
              <a:t>[1] </a:t>
            </a:r>
            <a:r>
              <a:rPr lang="en-US" sz="3600">
                <a:ln w="18415" cmpd="sng">
                  <a:solidFill>
                    <a:srgbClr val="FFFFFF"/>
                  </a:solidFill>
                  <a:prstDash val="solid"/>
                </a:ln>
                <a:effectLst>
                  <a:outerShdw blurRad="63500" dir="3600000" algn="tl" rotWithShape="0">
                    <a:srgbClr val="000000">
                      <a:alpha val="70000"/>
                    </a:srgbClr>
                  </a:outerShdw>
                </a:effectLst>
                <a:latin typeface="Arial"/>
                <a:cs typeface="Arial"/>
              </a:rPr>
              <a:t>Department of Mathematics at University of Rochester, Rochester NY. USA ; </a:t>
            </a:r>
            <a:r>
              <a:rPr lang="en-US" sz="3600" baseline="30000">
                <a:ln w="18415" cmpd="sng">
                  <a:solidFill>
                    <a:srgbClr val="FFFFFF"/>
                  </a:solidFill>
                  <a:prstDash val="solid"/>
                </a:ln>
                <a:effectLst>
                  <a:outerShdw blurRad="63500" dir="3600000" algn="tl" rotWithShape="0">
                    <a:srgbClr val="000000">
                      <a:alpha val="70000"/>
                    </a:srgbClr>
                  </a:outerShdw>
                </a:effectLst>
                <a:latin typeface="Arial"/>
                <a:cs typeface="Arial"/>
              </a:rPr>
              <a:t>[2] </a:t>
            </a:r>
            <a:r>
              <a:rPr lang="en-US" sz="3600">
                <a:ln w="18415" cmpd="sng">
                  <a:solidFill>
                    <a:srgbClr val="FFFFFF"/>
                  </a:solidFill>
                  <a:prstDash val="solid"/>
                </a:ln>
                <a:effectLst>
                  <a:outerShdw blurRad="63500" dir="3600000" algn="tl" rotWithShape="0">
                    <a:srgbClr val="000000">
                      <a:alpha val="70000"/>
                    </a:srgbClr>
                  </a:outerShdw>
                </a:effectLst>
                <a:latin typeface="Arial"/>
                <a:cs typeface="Arial"/>
              </a:rPr>
              <a:t>Department of Biology at University of Rochester, Rochester NY. USA</a:t>
            </a:r>
          </a:p>
          <a:p>
            <a:pPr defTabSz="783298">
              <a:buClr>
                <a:srgbClr val="F4680B"/>
              </a:buClr>
              <a:defRPr/>
            </a:pPr>
            <a:endParaRPr lang="en-US" sz="3600">
              <a:ln w="18415" cmpd="sng">
                <a:solidFill>
                  <a:srgbClr val="FFFFFF"/>
                </a:solidFill>
                <a:prstDash val="solid"/>
              </a:ln>
              <a:effectLst>
                <a:outerShdw blurRad="63500" dir="3600000" algn="tl" rotWithShape="0">
                  <a:srgbClr val="000000">
                    <a:alpha val="70000"/>
                  </a:srgbClr>
                </a:outerShdw>
              </a:effectLst>
              <a:latin typeface="Arial" panose="020B0604020202020204" pitchFamily="34" charset="0"/>
              <a:cs typeface="Arial" panose="020B0604020202020204" pitchFamily="34" charset="0"/>
            </a:endParaRPr>
          </a:p>
        </p:txBody>
      </p:sp>
      <p:cxnSp>
        <p:nvCxnSpPr>
          <p:cNvPr id="19" name="Straight Connector 18"/>
          <p:cNvCxnSpPr/>
          <p:nvPr/>
        </p:nvCxnSpPr>
        <p:spPr>
          <a:xfrm>
            <a:off x="4702836" y="3861614"/>
            <a:ext cx="34485941" cy="0"/>
          </a:xfrm>
          <a:prstGeom prst="line">
            <a:avLst/>
          </a:prstGeom>
          <a:ln w="2540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702452" y="3876802"/>
            <a:ext cx="34485941" cy="0"/>
          </a:xfrm>
          <a:prstGeom prst="line">
            <a:avLst/>
          </a:prstGeom>
          <a:ln w="101600" cmpd="sng">
            <a:solidFill>
              <a:schemeClr val="accent3">
                <a:lumMod val="40000"/>
                <a:lumOff val="6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p:cNvCxnSpPr>
          <p:nvPr/>
        </p:nvCxnSpPr>
        <p:spPr>
          <a:xfrm>
            <a:off x="0" y="5983550"/>
            <a:ext cx="42990690" cy="0"/>
          </a:xfrm>
          <a:prstGeom prst="line">
            <a:avLst/>
          </a:prstGeom>
          <a:ln w="254000">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grpSp>
        <p:nvGrpSpPr>
          <p:cNvPr id="142" name="Group 141"/>
          <p:cNvGrpSpPr/>
          <p:nvPr/>
        </p:nvGrpSpPr>
        <p:grpSpPr>
          <a:xfrm>
            <a:off x="1164118" y="6910672"/>
            <a:ext cx="13326379" cy="1018901"/>
            <a:chOff x="1392237" y="7966732"/>
            <a:chExt cx="15547445" cy="1188720"/>
          </a:xfrm>
        </p:grpSpPr>
        <p:grpSp>
          <p:nvGrpSpPr>
            <p:cNvPr id="116" name="Group 115"/>
            <p:cNvGrpSpPr/>
            <p:nvPr/>
          </p:nvGrpSpPr>
          <p:grpSpPr>
            <a:xfrm>
              <a:off x="1393598" y="7966732"/>
              <a:ext cx="15544800" cy="1188720"/>
              <a:chOff x="1528218" y="8042932"/>
              <a:chExt cx="13717108" cy="1188720"/>
            </a:xfrm>
          </p:grpSpPr>
          <p:sp>
            <p:nvSpPr>
              <p:cNvPr id="109" name="Rectangle 108"/>
              <p:cNvSpPr/>
              <p:nvPr/>
            </p:nvSpPr>
            <p:spPr>
              <a:xfrm>
                <a:off x="1528422" y="8042932"/>
                <a:ext cx="13716000" cy="1188720"/>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141"/>
              </a:p>
            </p:txBody>
          </p:sp>
          <p:cxnSp>
            <p:nvCxnSpPr>
              <p:cNvPr id="111" name="Straight Connector 110"/>
              <p:cNvCxnSpPr/>
              <p:nvPr/>
            </p:nvCxnSpPr>
            <p:spPr>
              <a:xfrm>
                <a:off x="1529326" y="8108886"/>
                <a:ext cx="13716000" cy="0"/>
              </a:xfrm>
              <a:prstGeom prst="line">
                <a:avLst/>
              </a:prstGeom>
              <a:ln w="139700" cmpd="sng">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a:off x="1528218" y="9123816"/>
                <a:ext cx="13716000" cy="0"/>
              </a:xfrm>
              <a:prstGeom prst="line">
                <a:avLst/>
              </a:prstGeom>
              <a:ln w="215900" cmpd="thinThick">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3" name="TextBox 112"/>
              <p:cNvSpPr txBox="1"/>
              <p:nvPr/>
            </p:nvSpPr>
            <p:spPr>
              <a:xfrm>
                <a:off x="6242842" y="8127783"/>
                <a:ext cx="4288972" cy="999646"/>
              </a:xfrm>
              <a:prstGeom prst="rect">
                <a:avLst/>
              </a:prstGeom>
              <a:noFill/>
            </p:spPr>
            <p:txBody>
              <a:bodyPr wrap="square" rtlCol="0">
                <a:spAutoFit/>
              </a:bodyPr>
              <a:lstStyle/>
              <a:p>
                <a:pPr algn="ctr"/>
                <a:r>
                  <a:rPr lang="en-US" sz="4968" b="1">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Introduction</a:t>
                </a:r>
              </a:p>
            </p:txBody>
          </p:sp>
        </p:grpSp>
        <p:cxnSp>
          <p:nvCxnSpPr>
            <p:cNvPr id="140" name="Straight Connector 139"/>
            <p:cNvCxnSpPr/>
            <p:nvPr/>
          </p:nvCxnSpPr>
          <p:spPr>
            <a:xfrm>
              <a:off x="1392237" y="8096516"/>
              <a:ext cx="15547445"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143" name="Group 142"/>
          <p:cNvGrpSpPr/>
          <p:nvPr/>
        </p:nvGrpSpPr>
        <p:grpSpPr>
          <a:xfrm>
            <a:off x="15196289" y="6909366"/>
            <a:ext cx="13347413" cy="1018901"/>
            <a:chOff x="726443" y="7966731"/>
            <a:chExt cx="16213239" cy="1188720"/>
          </a:xfrm>
        </p:grpSpPr>
        <p:grpSp>
          <p:nvGrpSpPr>
            <p:cNvPr id="144" name="Group 143"/>
            <p:cNvGrpSpPr/>
            <p:nvPr/>
          </p:nvGrpSpPr>
          <p:grpSpPr>
            <a:xfrm>
              <a:off x="726443" y="7966731"/>
              <a:ext cx="16211954" cy="1188720"/>
              <a:chOff x="939504" y="8042931"/>
              <a:chExt cx="14305822" cy="1188720"/>
            </a:xfrm>
          </p:grpSpPr>
          <p:sp>
            <p:nvSpPr>
              <p:cNvPr id="146" name="Rectangle 145"/>
              <p:cNvSpPr/>
              <p:nvPr/>
            </p:nvSpPr>
            <p:spPr>
              <a:xfrm>
                <a:off x="1528421" y="8042931"/>
                <a:ext cx="13716000" cy="1188720"/>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141"/>
              </a:p>
            </p:txBody>
          </p:sp>
          <p:cxnSp>
            <p:nvCxnSpPr>
              <p:cNvPr id="147" name="Straight Connector 146"/>
              <p:cNvCxnSpPr/>
              <p:nvPr/>
            </p:nvCxnSpPr>
            <p:spPr>
              <a:xfrm>
                <a:off x="1529326" y="8108886"/>
                <a:ext cx="13716000" cy="0"/>
              </a:xfrm>
              <a:prstGeom prst="line">
                <a:avLst/>
              </a:prstGeom>
              <a:ln w="139700" cmpd="sng">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a:off x="1528218" y="9121911"/>
                <a:ext cx="13716000" cy="0"/>
              </a:xfrm>
              <a:prstGeom prst="line">
                <a:avLst/>
              </a:prstGeom>
              <a:ln w="215900" cmpd="thinThick">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49" name="TextBox 148"/>
              <p:cNvSpPr txBox="1"/>
              <p:nvPr/>
            </p:nvSpPr>
            <p:spPr>
              <a:xfrm>
                <a:off x="939504" y="8102834"/>
                <a:ext cx="13765744" cy="999646"/>
              </a:xfrm>
              <a:prstGeom prst="rect">
                <a:avLst/>
              </a:prstGeom>
              <a:noFill/>
            </p:spPr>
            <p:txBody>
              <a:bodyPr wrap="square" rtlCol="0">
                <a:spAutoFit/>
              </a:bodyPr>
              <a:lstStyle/>
              <a:p>
                <a:pPr algn="ctr"/>
                <a:r>
                  <a:rPr lang="en-US" sz="4968" b="1">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Results</a:t>
                </a:r>
              </a:p>
            </p:txBody>
          </p:sp>
        </p:grpSp>
        <p:cxnSp>
          <p:nvCxnSpPr>
            <p:cNvPr id="145" name="Straight Connector 144"/>
            <p:cNvCxnSpPr/>
            <p:nvPr/>
          </p:nvCxnSpPr>
          <p:spPr>
            <a:xfrm>
              <a:off x="1392237" y="8096516"/>
              <a:ext cx="15547445"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33" name="TextBox 232"/>
          <p:cNvSpPr txBox="1"/>
          <p:nvPr/>
        </p:nvSpPr>
        <p:spPr>
          <a:xfrm>
            <a:off x="1175676" y="8280828"/>
            <a:ext cx="13332307" cy="4019292"/>
          </a:xfrm>
          <a:prstGeom prst="rect">
            <a:avLst/>
          </a:prstGeom>
          <a:noFill/>
          <a:ln>
            <a:noFill/>
          </a:ln>
        </p:spPr>
        <p:txBody>
          <a:bodyPr wrap="square" lIns="78341" tIns="39173" rIns="78341" bIns="39173" rtlCol="0" anchor="ctr" anchorCtr="1">
            <a:spAutoFit/>
          </a:bodyPr>
          <a:lstStyle/>
          <a:p>
            <a:pPr algn="just"/>
            <a:r>
              <a:rPr lang="en-US" sz="1800">
                <a:latin typeface="Arial"/>
                <a:cs typeface="Arial"/>
              </a:rPr>
              <a:t>Alzheimer’s Disease (AD) is the primary cause of dementia affecting the elderly, and more than six million Americans are estimated to suffer from AD, but there is currently no effective treatment (21). AD is characterized by disruption in neuronal function via accumulation of amyloid beta in plaques and phosphorylated tau protein in tau tangles (14). Increasing evidence links disruptions in the human gut microbiome to neurodegeneration, like in AD. A recent comprehensive study surveyed whole gut microbiota in humans with AD and found decreased microbial richness and reported a reduction in Firmicutes and Actinobacteria, and an increase in the phylum Bacteroidetes in AD brains (2). Increasing evidence supports that glial cells, including microglia and astrocytes, may play key roles in neuroinflammation in AD pathology (10). Single-cell transcriptomic analysis will allow for determination of cell-specific changes in gene expression that may reveal the role of glial cells in AD pathology. The objective of this project is to investigate how the gut microbiota phylogeny and brain cell-specific expression differ between AD and healthy patients. We hypothesize increased expression of neuroinflammatory genes including the NF-</a:t>
            </a:r>
            <a:r>
              <a:rPr lang="el-GR" sz="1800">
                <a:latin typeface="Arial"/>
                <a:cs typeface="Arial"/>
              </a:rPr>
              <a:t>κ</a:t>
            </a:r>
            <a:r>
              <a:rPr lang="en-US" sz="1800">
                <a:latin typeface="Arial"/>
                <a:cs typeface="Arial"/>
              </a:rPr>
              <a:t>B and MAPK signaling cascades (8) and NLRP3 inflammasome (22), in the brains of AD patients in glial cells. We also hypothesize phylum and genus-specific differences in microbiota in AD vs control.</a:t>
            </a:r>
          </a:p>
          <a:p>
            <a:pPr algn="just"/>
            <a:endParaRPr lang="en-US" sz="2002">
              <a:latin typeface="Arial" panose="020B0604020202020204" pitchFamily="34" charset="0"/>
              <a:cs typeface="Arial" panose="020B0604020202020204" pitchFamily="34" charset="0"/>
            </a:endParaRPr>
          </a:p>
          <a:p>
            <a:pPr algn="just"/>
            <a:endParaRPr lang="en-US" sz="2002">
              <a:latin typeface="Arial" panose="020B0604020202020204" pitchFamily="34" charset="0"/>
              <a:cs typeface="Arial" panose="020B0604020202020204" pitchFamily="34" charset="0"/>
            </a:endParaRPr>
          </a:p>
        </p:txBody>
      </p:sp>
      <p:grpSp>
        <p:nvGrpSpPr>
          <p:cNvPr id="150" name="Group 149"/>
          <p:cNvGrpSpPr/>
          <p:nvPr/>
        </p:nvGrpSpPr>
        <p:grpSpPr>
          <a:xfrm>
            <a:off x="29116073" y="14009315"/>
            <a:ext cx="13874617" cy="1007183"/>
            <a:chOff x="1392237" y="7966733"/>
            <a:chExt cx="15547445" cy="1188720"/>
          </a:xfrm>
        </p:grpSpPr>
        <p:grpSp>
          <p:nvGrpSpPr>
            <p:cNvPr id="151" name="Group 150"/>
            <p:cNvGrpSpPr/>
            <p:nvPr/>
          </p:nvGrpSpPr>
          <p:grpSpPr>
            <a:xfrm>
              <a:off x="1393598" y="7966733"/>
              <a:ext cx="15543844" cy="1188720"/>
              <a:chOff x="1528218" y="8042933"/>
              <a:chExt cx="13716267" cy="1188720"/>
            </a:xfrm>
          </p:grpSpPr>
          <p:sp>
            <p:nvSpPr>
              <p:cNvPr id="153" name="Rectangle 152"/>
              <p:cNvSpPr/>
              <p:nvPr/>
            </p:nvSpPr>
            <p:spPr>
              <a:xfrm>
                <a:off x="1528422" y="8042933"/>
                <a:ext cx="13716000" cy="1188720"/>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141" b="1">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154" name="Straight Connector 153"/>
              <p:cNvCxnSpPr>
                <a:cxnSpLocks/>
              </p:cNvCxnSpPr>
              <p:nvPr/>
            </p:nvCxnSpPr>
            <p:spPr>
              <a:xfrm>
                <a:off x="1566893" y="8931525"/>
                <a:ext cx="13677592" cy="0"/>
              </a:xfrm>
              <a:prstGeom prst="line">
                <a:avLst/>
              </a:prstGeom>
              <a:ln w="139700" cmpd="sng">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a:off x="1528218" y="9125810"/>
                <a:ext cx="13716000" cy="0"/>
              </a:xfrm>
              <a:prstGeom prst="line">
                <a:avLst/>
              </a:prstGeom>
              <a:ln w="215900" cmpd="thinThick">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56" name="TextBox 155"/>
              <p:cNvSpPr txBox="1"/>
              <p:nvPr/>
            </p:nvSpPr>
            <p:spPr>
              <a:xfrm>
                <a:off x="6242843" y="8078254"/>
                <a:ext cx="4288972" cy="1011277"/>
              </a:xfrm>
              <a:prstGeom prst="rect">
                <a:avLst/>
              </a:prstGeom>
              <a:noFill/>
            </p:spPr>
            <p:txBody>
              <a:bodyPr wrap="square" rtlCol="0">
                <a:spAutoFit/>
              </a:bodyPr>
              <a:lstStyle/>
              <a:p>
                <a:pPr algn="ctr"/>
                <a:r>
                  <a:rPr lang="en-US" sz="4968" b="1">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Summary</a:t>
                </a:r>
              </a:p>
            </p:txBody>
          </p:sp>
        </p:grpSp>
        <p:cxnSp>
          <p:nvCxnSpPr>
            <p:cNvPr id="152" name="Straight Connector 151"/>
            <p:cNvCxnSpPr/>
            <p:nvPr/>
          </p:nvCxnSpPr>
          <p:spPr>
            <a:xfrm>
              <a:off x="1392237" y="8096516"/>
              <a:ext cx="15547445"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53" name="TextBox 252"/>
          <p:cNvSpPr txBox="1"/>
          <p:nvPr/>
        </p:nvSpPr>
        <p:spPr>
          <a:xfrm>
            <a:off x="29652109" y="26389490"/>
            <a:ext cx="13670245" cy="545214"/>
          </a:xfrm>
          <a:prstGeom prst="rect">
            <a:avLst/>
          </a:prstGeom>
          <a:noFill/>
          <a:ln>
            <a:noFill/>
          </a:ln>
        </p:spPr>
        <p:txBody>
          <a:bodyPr wrap="square" rtlCol="0">
            <a:spAutoFit/>
          </a:bodyPr>
          <a:lstStyle/>
          <a:p>
            <a:pPr marL="171422" indent="-171422" algn="just">
              <a:buFont typeface="Wingdings" pitchFamily="2" charset="2"/>
              <a:buChar char="v"/>
            </a:pPr>
            <a:endParaRPr lang="en-US" sz="941">
              <a:latin typeface="Arial" panose="020B0604020202020204" pitchFamily="34" charset="0"/>
              <a:ea typeface="Tahoma" panose="020B0604030504040204" pitchFamily="34" charset="0"/>
              <a:cs typeface="Arial" panose="020B0604020202020204" pitchFamily="34" charset="0"/>
            </a:endParaRPr>
          </a:p>
          <a:p>
            <a:pPr marL="342845" indent="-342845" algn="just">
              <a:buFont typeface="Wingdings" pitchFamily="2" charset="2"/>
              <a:buChar char="v"/>
            </a:pPr>
            <a:endParaRPr lang="en-US" sz="2002">
              <a:latin typeface="Arial" panose="020B0604020202020204" pitchFamily="34" charset="0"/>
              <a:ea typeface="Tahoma" panose="020B0604030504040204" pitchFamily="34" charset="0"/>
              <a:cs typeface="Arial" panose="020B0604020202020204" pitchFamily="34" charset="0"/>
            </a:endParaRPr>
          </a:p>
        </p:txBody>
      </p:sp>
      <p:grpSp>
        <p:nvGrpSpPr>
          <p:cNvPr id="240" name="Group 239"/>
          <p:cNvGrpSpPr/>
          <p:nvPr/>
        </p:nvGrpSpPr>
        <p:grpSpPr>
          <a:xfrm>
            <a:off x="29224691" y="22938002"/>
            <a:ext cx="13856890" cy="1018901"/>
            <a:chOff x="1392237" y="7966732"/>
            <a:chExt cx="15547445" cy="1188720"/>
          </a:xfrm>
        </p:grpSpPr>
        <p:grpSp>
          <p:nvGrpSpPr>
            <p:cNvPr id="241" name="Group 240"/>
            <p:cNvGrpSpPr/>
            <p:nvPr/>
          </p:nvGrpSpPr>
          <p:grpSpPr>
            <a:xfrm>
              <a:off x="1393598" y="7966732"/>
              <a:ext cx="15544796" cy="1188720"/>
              <a:chOff x="1528218" y="8042932"/>
              <a:chExt cx="13717108" cy="1188720"/>
            </a:xfrm>
          </p:grpSpPr>
          <p:sp>
            <p:nvSpPr>
              <p:cNvPr id="243" name="Rectangle 242"/>
              <p:cNvSpPr/>
              <p:nvPr/>
            </p:nvSpPr>
            <p:spPr>
              <a:xfrm>
                <a:off x="1528422" y="8042932"/>
                <a:ext cx="13716000" cy="1188720"/>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141"/>
              </a:p>
            </p:txBody>
          </p:sp>
          <p:cxnSp>
            <p:nvCxnSpPr>
              <p:cNvPr id="244" name="Straight Connector 243"/>
              <p:cNvCxnSpPr/>
              <p:nvPr/>
            </p:nvCxnSpPr>
            <p:spPr>
              <a:xfrm>
                <a:off x="1529326" y="8108886"/>
                <a:ext cx="13716000" cy="0"/>
              </a:xfrm>
              <a:prstGeom prst="line">
                <a:avLst/>
              </a:prstGeom>
              <a:ln w="139700" cmpd="sng">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a:off x="1528218" y="9129345"/>
                <a:ext cx="13716000" cy="0"/>
              </a:xfrm>
              <a:prstGeom prst="line">
                <a:avLst/>
              </a:prstGeom>
              <a:ln w="215900" cmpd="thinThick">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46" name="TextBox 245"/>
              <p:cNvSpPr txBox="1"/>
              <p:nvPr/>
            </p:nvSpPr>
            <p:spPr>
              <a:xfrm>
                <a:off x="5235037" y="8108195"/>
                <a:ext cx="6302357" cy="999647"/>
              </a:xfrm>
              <a:prstGeom prst="rect">
                <a:avLst/>
              </a:prstGeom>
              <a:noFill/>
            </p:spPr>
            <p:txBody>
              <a:bodyPr wrap="square" rtlCol="0">
                <a:spAutoFit/>
              </a:bodyPr>
              <a:lstStyle/>
              <a:p>
                <a:pPr algn="ctr"/>
                <a:r>
                  <a:rPr lang="en-US" sz="4968" b="1">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Future Directions</a:t>
                </a:r>
              </a:p>
            </p:txBody>
          </p:sp>
        </p:grpSp>
        <p:cxnSp>
          <p:nvCxnSpPr>
            <p:cNvPr id="242" name="Straight Connector 241"/>
            <p:cNvCxnSpPr/>
            <p:nvPr/>
          </p:nvCxnSpPr>
          <p:spPr>
            <a:xfrm>
              <a:off x="1392237" y="8096516"/>
              <a:ext cx="15547445"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506" name="Group 505"/>
          <p:cNvGrpSpPr/>
          <p:nvPr/>
        </p:nvGrpSpPr>
        <p:grpSpPr>
          <a:xfrm>
            <a:off x="29231319" y="30558503"/>
            <a:ext cx="13759371" cy="1544154"/>
            <a:chOff x="34281984" y="28948722"/>
            <a:chExt cx="15547445" cy="1488885"/>
          </a:xfrm>
        </p:grpSpPr>
        <p:grpSp>
          <p:nvGrpSpPr>
            <p:cNvPr id="168" name="Group 167"/>
            <p:cNvGrpSpPr/>
            <p:nvPr/>
          </p:nvGrpSpPr>
          <p:grpSpPr>
            <a:xfrm>
              <a:off x="34281984" y="28948722"/>
              <a:ext cx="15547445" cy="982413"/>
              <a:chOff x="1392237" y="7966732"/>
              <a:chExt cx="15547445" cy="982413"/>
            </a:xfrm>
          </p:grpSpPr>
          <p:grpSp>
            <p:nvGrpSpPr>
              <p:cNvPr id="169" name="Group 168"/>
              <p:cNvGrpSpPr/>
              <p:nvPr/>
            </p:nvGrpSpPr>
            <p:grpSpPr>
              <a:xfrm>
                <a:off x="1393598" y="7966732"/>
                <a:ext cx="15544798" cy="982413"/>
                <a:chOff x="1528218" y="8042932"/>
                <a:chExt cx="13717108" cy="982413"/>
              </a:xfrm>
            </p:grpSpPr>
            <p:sp>
              <p:nvSpPr>
                <p:cNvPr id="171" name="Rectangle 170"/>
                <p:cNvSpPr/>
                <p:nvPr/>
              </p:nvSpPr>
              <p:spPr>
                <a:xfrm>
                  <a:off x="1528422" y="8042932"/>
                  <a:ext cx="13716000" cy="98241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141"/>
                </a:p>
              </p:txBody>
            </p:sp>
            <p:cxnSp>
              <p:nvCxnSpPr>
                <p:cNvPr id="172" name="Straight Connector 171"/>
                <p:cNvCxnSpPr>
                  <a:cxnSpLocks/>
                </p:cNvCxnSpPr>
                <p:nvPr/>
              </p:nvCxnSpPr>
              <p:spPr>
                <a:xfrm>
                  <a:off x="1529326" y="8099440"/>
                  <a:ext cx="13716000" cy="0"/>
                </a:xfrm>
                <a:prstGeom prst="line">
                  <a:avLst/>
                </a:prstGeom>
                <a:ln w="139700" cmpd="sng">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528218" y="8935995"/>
                  <a:ext cx="13716000" cy="0"/>
                </a:xfrm>
                <a:prstGeom prst="line">
                  <a:avLst/>
                </a:prstGeom>
                <a:ln w="215900" cmpd="thinThick">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74" name="TextBox 173"/>
                <p:cNvSpPr txBox="1"/>
                <p:nvPr/>
              </p:nvSpPr>
              <p:spPr>
                <a:xfrm>
                  <a:off x="5204681" y="8072826"/>
                  <a:ext cx="6437801" cy="826170"/>
                </a:xfrm>
                <a:prstGeom prst="rect">
                  <a:avLst/>
                </a:prstGeom>
                <a:noFill/>
              </p:spPr>
              <p:txBody>
                <a:bodyPr wrap="square" rtlCol="0">
                  <a:spAutoFit/>
                </a:bodyPr>
                <a:lstStyle/>
                <a:p>
                  <a:pPr algn="ctr"/>
                  <a:r>
                    <a:rPr lang="en-US" sz="4968" b="1">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Acknowledgements</a:t>
                  </a:r>
                </a:p>
              </p:txBody>
            </p:sp>
          </p:grpSp>
          <p:cxnSp>
            <p:nvCxnSpPr>
              <p:cNvPr id="170" name="Straight Connector 169"/>
              <p:cNvCxnSpPr/>
              <p:nvPr/>
            </p:nvCxnSpPr>
            <p:spPr>
              <a:xfrm>
                <a:off x="1392237" y="8087071"/>
                <a:ext cx="15547445"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602" name="TextBox 601"/>
            <p:cNvSpPr txBox="1"/>
            <p:nvPr/>
          </p:nvSpPr>
          <p:spPr>
            <a:xfrm>
              <a:off x="34283306" y="29966809"/>
              <a:ext cx="15544802" cy="470798"/>
            </a:xfrm>
            <a:prstGeom prst="rect">
              <a:avLst/>
            </a:prstGeom>
            <a:noFill/>
            <a:ln>
              <a:noFill/>
            </a:ln>
          </p:spPr>
          <p:txBody>
            <a:bodyPr wrap="square" rtlCol="0">
              <a:spAutoFit/>
            </a:bodyPr>
            <a:lstStyle/>
            <a:p>
              <a:pPr algn="just"/>
              <a:endParaRPr lang="en-US" sz="2573">
                <a:latin typeface="Arial" panose="020B0604020202020204" pitchFamily="34" charset="0"/>
                <a:ea typeface="Tahoma" panose="020B0604030504040204" pitchFamily="34" charset="0"/>
                <a:cs typeface="Arial" panose="020B0604020202020204" pitchFamily="34" charset="0"/>
              </a:endParaRPr>
            </a:p>
          </p:txBody>
        </p:sp>
      </p:grpSp>
      <p:cxnSp>
        <p:nvCxnSpPr>
          <p:cNvPr id="333" name="Straight Connector 332"/>
          <p:cNvCxnSpPr/>
          <p:nvPr/>
        </p:nvCxnSpPr>
        <p:spPr>
          <a:xfrm>
            <a:off x="130627" y="32485771"/>
            <a:ext cx="43891200" cy="0"/>
          </a:xfrm>
          <a:prstGeom prst="line">
            <a:avLst/>
          </a:prstGeom>
          <a:ln w="127000" cmpd="sng">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p:cNvCxnSpPr>
            <a:cxnSpLocks/>
          </p:cNvCxnSpPr>
          <p:nvPr/>
        </p:nvCxnSpPr>
        <p:spPr>
          <a:xfrm>
            <a:off x="132648" y="6204802"/>
            <a:ext cx="42858042" cy="0"/>
          </a:xfrm>
          <a:prstGeom prst="line">
            <a:avLst/>
          </a:prstGeom>
          <a:ln w="2540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a:cxnSpLocks/>
          </p:cNvCxnSpPr>
          <p:nvPr/>
        </p:nvCxnSpPr>
        <p:spPr>
          <a:xfrm>
            <a:off x="2021" y="6259267"/>
            <a:ext cx="42988669" cy="0"/>
          </a:xfrm>
          <a:prstGeom prst="line">
            <a:avLst/>
          </a:prstGeom>
          <a:ln w="152400" cmpd="thinThick">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a:cxnSpLocks/>
          </p:cNvCxnSpPr>
          <p:nvPr/>
        </p:nvCxnSpPr>
        <p:spPr>
          <a:xfrm>
            <a:off x="29390739" y="29909048"/>
            <a:ext cx="13362485" cy="10118"/>
          </a:xfrm>
          <a:prstGeom prst="line">
            <a:avLst/>
          </a:prstGeom>
          <a:ln w="381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9" name="Straight Connector 338"/>
          <p:cNvCxnSpPr/>
          <p:nvPr/>
        </p:nvCxnSpPr>
        <p:spPr>
          <a:xfrm>
            <a:off x="4702937" y="3813854"/>
            <a:ext cx="34485941" cy="0"/>
          </a:xfrm>
          <a:prstGeom prst="line">
            <a:avLst/>
          </a:prstGeom>
          <a:ln w="69850" cmpd="thinThick">
            <a:solidFill>
              <a:schemeClr val="tx2">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637" name="Rectangle 636"/>
          <p:cNvSpPr>
            <a:spLocks/>
          </p:cNvSpPr>
          <p:nvPr/>
        </p:nvSpPr>
        <p:spPr>
          <a:xfrm>
            <a:off x="17" y="3596318"/>
            <a:ext cx="1175659" cy="2978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8341" tIns="39173" rIns="78341" bIns="39173" rtlCol="0" anchor="ctr"/>
          <a:lstStyle/>
          <a:p>
            <a:pPr algn="ctr"/>
            <a:endParaRPr lang="en-US" sz="8141"/>
          </a:p>
        </p:txBody>
      </p:sp>
      <p:sp>
        <p:nvSpPr>
          <p:cNvPr id="638" name="Rectangle 637"/>
          <p:cNvSpPr>
            <a:spLocks/>
          </p:cNvSpPr>
          <p:nvPr/>
        </p:nvSpPr>
        <p:spPr>
          <a:xfrm>
            <a:off x="-1" y="5103295"/>
            <a:ext cx="1176472" cy="2978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8341" tIns="39173" rIns="78341" bIns="39173" rtlCol="0" anchor="ctr"/>
          <a:lstStyle/>
          <a:p>
            <a:pPr algn="ctr"/>
            <a:endParaRPr lang="en-US" sz="8141"/>
          </a:p>
        </p:txBody>
      </p:sp>
      <p:sp>
        <p:nvSpPr>
          <p:cNvPr id="626" name="Rectangle 625"/>
          <p:cNvSpPr>
            <a:spLocks/>
          </p:cNvSpPr>
          <p:nvPr/>
        </p:nvSpPr>
        <p:spPr>
          <a:xfrm rot="10800000" flipV="1">
            <a:off x="42990691" y="32078609"/>
            <a:ext cx="1418669" cy="8397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8341" tIns="39173" rIns="78341" bIns="39173" rtlCol="0" anchor="ctr"/>
          <a:lstStyle/>
          <a:p>
            <a:pPr algn="ctr"/>
            <a:endParaRPr lang="en-US" sz="8141"/>
          </a:p>
        </p:txBody>
      </p:sp>
      <p:sp>
        <p:nvSpPr>
          <p:cNvPr id="100" name="Rectangle 99"/>
          <p:cNvSpPr/>
          <p:nvPr/>
        </p:nvSpPr>
        <p:spPr>
          <a:xfrm>
            <a:off x="9794689" y="-6899671"/>
            <a:ext cx="21945600" cy="1345112"/>
          </a:xfrm>
          <a:prstGeom prst="rect">
            <a:avLst/>
          </a:prstGeom>
        </p:spPr>
        <p:txBody>
          <a:bodyPr>
            <a:spAutoFit/>
          </a:bodyPr>
          <a:lstStyle/>
          <a:p>
            <a:endParaRPr lang="en-US" sz="8141"/>
          </a:p>
        </p:txBody>
      </p:sp>
      <p:grpSp>
        <p:nvGrpSpPr>
          <p:cNvPr id="871" name="Group 870">
            <a:extLst>
              <a:ext uri="{FF2B5EF4-FFF2-40B4-BE49-F238E27FC236}">
                <a16:creationId xmlns:a16="http://schemas.microsoft.com/office/drawing/2014/main" id="{78602099-AA57-4EAB-975D-896233113700}"/>
              </a:ext>
            </a:extLst>
          </p:cNvPr>
          <p:cNvGrpSpPr/>
          <p:nvPr/>
        </p:nvGrpSpPr>
        <p:grpSpPr>
          <a:xfrm>
            <a:off x="858864" y="17180114"/>
            <a:ext cx="14159476" cy="940070"/>
            <a:chOff x="1392238" y="7966733"/>
            <a:chExt cx="16186689" cy="982413"/>
          </a:xfrm>
        </p:grpSpPr>
        <p:grpSp>
          <p:nvGrpSpPr>
            <p:cNvPr id="873" name="Group 872">
              <a:extLst>
                <a:ext uri="{FF2B5EF4-FFF2-40B4-BE49-F238E27FC236}">
                  <a16:creationId xmlns:a16="http://schemas.microsoft.com/office/drawing/2014/main" id="{CBD3485C-3691-46D1-9536-396E00794B51}"/>
                </a:ext>
              </a:extLst>
            </p:cNvPr>
            <p:cNvGrpSpPr/>
            <p:nvPr/>
          </p:nvGrpSpPr>
          <p:grpSpPr>
            <a:xfrm>
              <a:off x="1393599" y="7966733"/>
              <a:ext cx="16185328" cy="982413"/>
              <a:chOff x="1528219" y="8042933"/>
              <a:chExt cx="14282327" cy="982413"/>
            </a:xfrm>
          </p:grpSpPr>
          <p:sp>
            <p:nvSpPr>
              <p:cNvPr id="875" name="Rectangle 874">
                <a:extLst>
                  <a:ext uri="{FF2B5EF4-FFF2-40B4-BE49-F238E27FC236}">
                    <a16:creationId xmlns:a16="http://schemas.microsoft.com/office/drawing/2014/main" id="{C1B601A1-1D87-46FE-B11A-B7044FC97C18}"/>
                  </a:ext>
                </a:extLst>
              </p:cNvPr>
              <p:cNvSpPr/>
              <p:nvPr/>
            </p:nvSpPr>
            <p:spPr>
              <a:xfrm>
                <a:off x="1528422" y="8042933"/>
                <a:ext cx="14247889" cy="982413"/>
              </a:xfrm>
              <a:prstGeom prst="rect">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141"/>
              </a:p>
            </p:txBody>
          </p:sp>
          <p:cxnSp>
            <p:nvCxnSpPr>
              <p:cNvPr id="876" name="Straight Connector 875">
                <a:extLst>
                  <a:ext uri="{FF2B5EF4-FFF2-40B4-BE49-F238E27FC236}">
                    <a16:creationId xmlns:a16="http://schemas.microsoft.com/office/drawing/2014/main" id="{D0E611F8-429E-4FB0-9486-AE2D4D904147}"/>
                  </a:ext>
                </a:extLst>
              </p:cNvPr>
              <p:cNvCxnSpPr>
                <a:cxnSpLocks/>
              </p:cNvCxnSpPr>
              <p:nvPr/>
            </p:nvCxnSpPr>
            <p:spPr>
              <a:xfrm flipV="1">
                <a:off x="1529326" y="8064372"/>
                <a:ext cx="14246986" cy="19324"/>
              </a:xfrm>
              <a:prstGeom prst="line">
                <a:avLst/>
              </a:prstGeom>
              <a:ln w="139700" cmpd="sng">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877" name="Straight Connector 876">
                <a:extLst>
                  <a:ext uri="{FF2B5EF4-FFF2-40B4-BE49-F238E27FC236}">
                    <a16:creationId xmlns:a16="http://schemas.microsoft.com/office/drawing/2014/main" id="{BA77E50A-5E89-4499-8D96-CE004D325E62}"/>
                  </a:ext>
                </a:extLst>
              </p:cNvPr>
              <p:cNvCxnSpPr>
                <a:cxnSpLocks/>
              </p:cNvCxnSpPr>
              <p:nvPr/>
            </p:nvCxnSpPr>
            <p:spPr>
              <a:xfrm>
                <a:off x="1528219" y="8956984"/>
                <a:ext cx="14282327" cy="68362"/>
              </a:xfrm>
              <a:prstGeom prst="line">
                <a:avLst/>
              </a:prstGeom>
              <a:ln w="215900" cmpd="thinThick">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878" name="TextBox 877">
                <a:extLst>
                  <a:ext uri="{FF2B5EF4-FFF2-40B4-BE49-F238E27FC236}">
                    <a16:creationId xmlns:a16="http://schemas.microsoft.com/office/drawing/2014/main" id="{4F307A4B-DA93-4F58-951E-6BF244966704}"/>
                  </a:ext>
                </a:extLst>
              </p:cNvPr>
              <p:cNvSpPr txBox="1"/>
              <p:nvPr/>
            </p:nvSpPr>
            <p:spPr>
              <a:xfrm>
                <a:off x="5204683" y="8072825"/>
                <a:ext cx="6437800" cy="895432"/>
              </a:xfrm>
              <a:prstGeom prst="rect">
                <a:avLst/>
              </a:prstGeom>
              <a:noFill/>
              <a:ln>
                <a:noFill/>
              </a:ln>
            </p:spPr>
            <p:txBody>
              <a:bodyPr wrap="square" rtlCol="0">
                <a:spAutoFit/>
              </a:bodyPr>
              <a:lstStyle/>
              <a:p>
                <a:pPr algn="ctr"/>
                <a:r>
                  <a:rPr lang="en-US" sz="4968" b="1">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Methods</a:t>
                </a:r>
              </a:p>
            </p:txBody>
          </p:sp>
        </p:grpSp>
        <p:cxnSp>
          <p:nvCxnSpPr>
            <p:cNvPr id="874" name="Straight Connector 873">
              <a:extLst>
                <a:ext uri="{FF2B5EF4-FFF2-40B4-BE49-F238E27FC236}">
                  <a16:creationId xmlns:a16="http://schemas.microsoft.com/office/drawing/2014/main" id="{756E6A16-49E8-4F3A-99C9-42BB112160EE}"/>
                </a:ext>
              </a:extLst>
            </p:cNvPr>
            <p:cNvCxnSpPr>
              <a:cxnSpLocks/>
            </p:cNvCxnSpPr>
            <p:nvPr/>
          </p:nvCxnSpPr>
          <p:spPr>
            <a:xfrm>
              <a:off x="1392238" y="8087071"/>
              <a:ext cx="16147895" cy="5963"/>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151" name="Rectangle 1150">
            <a:extLst>
              <a:ext uri="{FF2B5EF4-FFF2-40B4-BE49-F238E27FC236}">
                <a16:creationId xmlns:a16="http://schemas.microsoft.com/office/drawing/2014/main" id="{1FE894BF-A874-787A-1336-4CB074BDDBCB}"/>
              </a:ext>
            </a:extLst>
          </p:cNvPr>
          <p:cNvSpPr>
            <a:spLocks/>
          </p:cNvSpPr>
          <p:nvPr/>
        </p:nvSpPr>
        <p:spPr>
          <a:xfrm rot="10800000" flipV="1">
            <a:off x="-362185" y="32049038"/>
            <a:ext cx="1218291" cy="8397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8341" tIns="39173" rIns="78341" bIns="39173" rtlCol="0" anchor="ctr"/>
          <a:lstStyle/>
          <a:p>
            <a:pPr algn="ctr"/>
            <a:endParaRPr lang="en-US" sz="8141"/>
          </a:p>
        </p:txBody>
      </p:sp>
      <p:sp>
        <p:nvSpPr>
          <p:cNvPr id="209" name="TextBox 208">
            <a:extLst>
              <a:ext uri="{FF2B5EF4-FFF2-40B4-BE49-F238E27FC236}">
                <a16:creationId xmlns:a16="http://schemas.microsoft.com/office/drawing/2014/main" id="{081B5000-BED5-AD5C-B887-A29C954D7517}"/>
              </a:ext>
            </a:extLst>
          </p:cNvPr>
          <p:cNvSpPr txBox="1"/>
          <p:nvPr/>
        </p:nvSpPr>
        <p:spPr>
          <a:xfrm>
            <a:off x="29462263" y="22654795"/>
            <a:ext cx="13324114" cy="708527"/>
          </a:xfrm>
          <a:prstGeom prst="rect">
            <a:avLst/>
          </a:prstGeom>
          <a:noFill/>
          <a:ln>
            <a:noFill/>
          </a:ln>
        </p:spPr>
        <p:txBody>
          <a:bodyPr wrap="square" rtlCol="0">
            <a:spAutoFit/>
          </a:bodyPr>
          <a:lstStyle/>
          <a:p>
            <a:pPr algn="just"/>
            <a:endParaRPr lang="en-US" sz="2002">
              <a:latin typeface="Arial" panose="020B0604020202020204" pitchFamily="34" charset="0"/>
              <a:ea typeface="Tahoma" panose="020B0604030504040204" pitchFamily="34" charset="0"/>
              <a:cs typeface="Arial" panose="020B0604020202020204" pitchFamily="34" charset="0"/>
            </a:endParaRPr>
          </a:p>
          <a:p>
            <a:pPr marL="391642" indent="-391642" algn="just">
              <a:buFont typeface="Wingdings" panose="05000000000000000000" pitchFamily="2" charset="2"/>
              <a:buChar char="v"/>
            </a:pPr>
            <a:endParaRPr lang="en-US" sz="2002">
              <a:latin typeface="Arial" panose="020B0604020202020204" pitchFamily="34" charset="0"/>
              <a:ea typeface="Tahoma" panose="020B0604030504040204" pitchFamily="34" charset="0"/>
              <a:cs typeface="Arial" panose="020B0604020202020204" pitchFamily="34" charset="0"/>
            </a:endParaRPr>
          </a:p>
        </p:txBody>
      </p:sp>
      <p:sp>
        <p:nvSpPr>
          <p:cNvPr id="249" name="TextBox 248">
            <a:extLst>
              <a:ext uri="{FF2B5EF4-FFF2-40B4-BE49-F238E27FC236}">
                <a16:creationId xmlns:a16="http://schemas.microsoft.com/office/drawing/2014/main" id="{602ED91F-8FE9-E11F-8C12-C4FC70F2C732}"/>
              </a:ext>
            </a:extLst>
          </p:cNvPr>
          <p:cNvSpPr txBox="1"/>
          <p:nvPr/>
        </p:nvSpPr>
        <p:spPr>
          <a:xfrm>
            <a:off x="932459" y="31061665"/>
            <a:ext cx="14346919" cy="1132939"/>
          </a:xfrm>
          <a:prstGeom prst="rect">
            <a:avLst/>
          </a:prstGeom>
          <a:noFill/>
        </p:spPr>
        <p:txBody>
          <a:bodyPr wrap="square" rtlCol="0">
            <a:spAutoFit/>
          </a:bodyPr>
          <a:lstStyle/>
          <a:p>
            <a:pPr>
              <a:lnSpc>
                <a:spcPct val="107000"/>
              </a:lnSpc>
              <a:spcAft>
                <a:spcPts val="802"/>
              </a:spcAft>
            </a:pPr>
            <a:r>
              <a:rPr lang="en-US" sz="1600" b="1" kern="100">
                <a:solidFill>
                  <a:srgbClr val="000000"/>
                </a:solidFill>
                <a:latin typeface="Arial" panose="020B0604020202020204" pitchFamily="34" charset="0"/>
                <a:ea typeface="DengXian" panose="02010600030101010101" pitchFamily="2" charset="-122"/>
                <a:cs typeface="Arial" panose="020B0604020202020204" pitchFamily="34" charset="0"/>
              </a:rPr>
              <a:t>Figure 2. Diversity metrics for Vogt et al. 16S data. (A) Shannon’s Alpha  Diversity. </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Shannon Diversity Index was calculated on ASVs for AD and control samples to evaluate differences in richness and evenness between AD and control samples. </a:t>
            </a:r>
            <a:r>
              <a:rPr lang="en-US" sz="1600" b="1" kern="100">
                <a:solidFill>
                  <a:srgbClr val="000000"/>
                </a:solidFill>
                <a:latin typeface="Arial" panose="020B0604020202020204" pitchFamily="34" charset="0"/>
                <a:ea typeface="DengXian" panose="02010600030101010101" pitchFamily="2" charset="-122"/>
                <a:cs typeface="Arial" panose="020B0604020202020204" pitchFamily="34" charset="0"/>
              </a:rPr>
              <a:t>(B) Faith’s PD Alpha Diversity. </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Comparison of average phylogenetic diversity between stool samples from AD and control patients as a representation of evolution within populations based on relatedness between genera using Wilcoxon Rank Sum Test.</a:t>
            </a:r>
            <a:r>
              <a:rPr lang="en-US" sz="1600" b="1" kern="100">
                <a:solidFill>
                  <a:srgbClr val="000000"/>
                </a:solidFill>
                <a:latin typeface="Arial" panose="020B0604020202020204" pitchFamily="34" charset="0"/>
                <a:ea typeface="DengXian" panose="02010600030101010101" pitchFamily="2" charset="-122"/>
                <a:cs typeface="Arial" panose="020B0604020202020204" pitchFamily="34" charset="0"/>
              </a:rPr>
              <a:t> </a:t>
            </a:r>
            <a:endParaRPr lang="en-US" sz="1600" kern="100">
              <a:latin typeface="+mj-lt"/>
              <a:ea typeface="DengXian" panose="02010600030101010101" pitchFamily="2" charset="-122"/>
              <a:cs typeface="Arial" panose="020B0604020202020204" pitchFamily="34" charset="0"/>
            </a:endParaRPr>
          </a:p>
        </p:txBody>
      </p:sp>
      <p:grpSp>
        <p:nvGrpSpPr>
          <p:cNvPr id="265" name="Group 264">
            <a:extLst>
              <a:ext uri="{FF2B5EF4-FFF2-40B4-BE49-F238E27FC236}">
                <a16:creationId xmlns:a16="http://schemas.microsoft.com/office/drawing/2014/main" id="{B485C01A-2788-2F15-E9D0-75FE0271E216}"/>
              </a:ext>
            </a:extLst>
          </p:cNvPr>
          <p:cNvGrpSpPr/>
          <p:nvPr/>
        </p:nvGrpSpPr>
        <p:grpSpPr>
          <a:xfrm>
            <a:off x="29230795" y="25757492"/>
            <a:ext cx="13759371" cy="1544155"/>
            <a:chOff x="34281984" y="28948722"/>
            <a:chExt cx="15547445" cy="1488885"/>
          </a:xfrm>
        </p:grpSpPr>
        <p:grpSp>
          <p:nvGrpSpPr>
            <p:cNvPr id="266" name="Group 265">
              <a:extLst>
                <a:ext uri="{FF2B5EF4-FFF2-40B4-BE49-F238E27FC236}">
                  <a16:creationId xmlns:a16="http://schemas.microsoft.com/office/drawing/2014/main" id="{C2069D98-57A4-9D22-5B1D-5AEB9B04B77E}"/>
                </a:ext>
              </a:extLst>
            </p:cNvPr>
            <p:cNvGrpSpPr/>
            <p:nvPr/>
          </p:nvGrpSpPr>
          <p:grpSpPr>
            <a:xfrm>
              <a:off x="34281984" y="28948722"/>
              <a:ext cx="15547445" cy="982413"/>
              <a:chOff x="1392237" y="7966732"/>
              <a:chExt cx="15547445" cy="982413"/>
            </a:xfrm>
          </p:grpSpPr>
          <p:grpSp>
            <p:nvGrpSpPr>
              <p:cNvPr id="268" name="Group 267">
                <a:extLst>
                  <a:ext uri="{FF2B5EF4-FFF2-40B4-BE49-F238E27FC236}">
                    <a16:creationId xmlns:a16="http://schemas.microsoft.com/office/drawing/2014/main" id="{39DBBDE3-A787-CF9C-338E-3FB1155B45DA}"/>
                  </a:ext>
                </a:extLst>
              </p:cNvPr>
              <p:cNvGrpSpPr/>
              <p:nvPr/>
            </p:nvGrpSpPr>
            <p:grpSpPr>
              <a:xfrm>
                <a:off x="1393598" y="7966732"/>
                <a:ext cx="15544797" cy="982413"/>
                <a:chOff x="1528218" y="8042932"/>
                <a:chExt cx="13717108" cy="982413"/>
              </a:xfrm>
            </p:grpSpPr>
            <p:sp>
              <p:nvSpPr>
                <p:cNvPr id="270" name="Rectangle 269">
                  <a:extLst>
                    <a:ext uri="{FF2B5EF4-FFF2-40B4-BE49-F238E27FC236}">
                      <a16:creationId xmlns:a16="http://schemas.microsoft.com/office/drawing/2014/main" id="{CA5E66A9-781C-A808-95E8-3CC9F8009CF0}"/>
                    </a:ext>
                  </a:extLst>
                </p:cNvPr>
                <p:cNvSpPr/>
                <p:nvPr/>
              </p:nvSpPr>
              <p:spPr>
                <a:xfrm>
                  <a:off x="1528422" y="8042932"/>
                  <a:ext cx="13716000" cy="98241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141"/>
                </a:p>
              </p:txBody>
            </p:sp>
            <p:cxnSp>
              <p:nvCxnSpPr>
                <p:cNvPr id="271" name="Straight Connector 270">
                  <a:extLst>
                    <a:ext uri="{FF2B5EF4-FFF2-40B4-BE49-F238E27FC236}">
                      <a16:creationId xmlns:a16="http://schemas.microsoft.com/office/drawing/2014/main" id="{ABD67F0F-456F-4279-053F-37BA55CCA4E2}"/>
                    </a:ext>
                  </a:extLst>
                </p:cNvPr>
                <p:cNvCxnSpPr>
                  <a:cxnSpLocks/>
                </p:cNvCxnSpPr>
                <p:nvPr/>
              </p:nvCxnSpPr>
              <p:spPr>
                <a:xfrm>
                  <a:off x="1529326" y="8099440"/>
                  <a:ext cx="13716000" cy="0"/>
                </a:xfrm>
                <a:prstGeom prst="line">
                  <a:avLst/>
                </a:prstGeom>
                <a:ln w="139700" cmpd="sng">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DDAAD9B5-5D2E-417B-8E81-E74FF663E12E}"/>
                    </a:ext>
                  </a:extLst>
                </p:cNvPr>
                <p:cNvCxnSpPr/>
                <p:nvPr/>
              </p:nvCxnSpPr>
              <p:spPr>
                <a:xfrm>
                  <a:off x="1528218" y="8935995"/>
                  <a:ext cx="13716000" cy="0"/>
                </a:xfrm>
                <a:prstGeom prst="line">
                  <a:avLst/>
                </a:prstGeom>
                <a:ln w="215900" cmpd="thinThick">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73" name="TextBox 272">
                  <a:extLst>
                    <a:ext uri="{FF2B5EF4-FFF2-40B4-BE49-F238E27FC236}">
                      <a16:creationId xmlns:a16="http://schemas.microsoft.com/office/drawing/2014/main" id="{E77A7460-9A01-43DA-8105-2A108AA97B9E}"/>
                    </a:ext>
                  </a:extLst>
                </p:cNvPr>
                <p:cNvSpPr txBox="1"/>
                <p:nvPr/>
              </p:nvSpPr>
              <p:spPr>
                <a:xfrm>
                  <a:off x="5204681" y="8072826"/>
                  <a:ext cx="6437801" cy="826169"/>
                </a:xfrm>
                <a:prstGeom prst="rect">
                  <a:avLst/>
                </a:prstGeom>
                <a:noFill/>
              </p:spPr>
              <p:txBody>
                <a:bodyPr wrap="square" rtlCol="0">
                  <a:spAutoFit/>
                </a:bodyPr>
                <a:lstStyle/>
                <a:p>
                  <a:pPr algn="ctr"/>
                  <a:r>
                    <a:rPr lang="en-US" sz="4968" b="1">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References</a:t>
                  </a:r>
                </a:p>
              </p:txBody>
            </p:sp>
          </p:grpSp>
          <p:cxnSp>
            <p:nvCxnSpPr>
              <p:cNvPr id="269" name="Straight Connector 268">
                <a:extLst>
                  <a:ext uri="{FF2B5EF4-FFF2-40B4-BE49-F238E27FC236}">
                    <a16:creationId xmlns:a16="http://schemas.microsoft.com/office/drawing/2014/main" id="{7AF485BA-A109-DC8D-D827-2102684537E5}"/>
                  </a:ext>
                </a:extLst>
              </p:cNvPr>
              <p:cNvCxnSpPr/>
              <p:nvPr/>
            </p:nvCxnSpPr>
            <p:spPr>
              <a:xfrm>
                <a:off x="1392237" y="8087071"/>
                <a:ext cx="15547445"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67" name="TextBox 266">
              <a:extLst>
                <a:ext uri="{FF2B5EF4-FFF2-40B4-BE49-F238E27FC236}">
                  <a16:creationId xmlns:a16="http://schemas.microsoft.com/office/drawing/2014/main" id="{5061FF08-0FCF-1D99-A3FE-DC29ED84E29B}"/>
                </a:ext>
              </a:extLst>
            </p:cNvPr>
            <p:cNvSpPr txBox="1"/>
            <p:nvPr/>
          </p:nvSpPr>
          <p:spPr>
            <a:xfrm>
              <a:off x="34283306" y="29966809"/>
              <a:ext cx="15544802" cy="470798"/>
            </a:xfrm>
            <a:prstGeom prst="rect">
              <a:avLst/>
            </a:prstGeom>
            <a:noFill/>
            <a:ln>
              <a:noFill/>
            </a:ln>
          </p:spPr>
          <p:txBody>
            <a:bodyPr wrap="square" rtlCol="0">
              <a:spAutoFit/>
            </a:bodyPr>
            <a:lstStyle/>
            <a:p>
              <a:pPr algn="just"/>
              <a:endParaRPr lang="en-US" sz="2573">
                <a:latin typeface="Arial" panose="020B0604020202020204" pitchFamily="34" charset="0"/>
                <a:ea typeface="Tahoma" panose="020B0604030504040204" pitchFamily="34" charset="0"/>
                <a:cs typeface="Arial" panose="020B0604020202020204" pitchFamily="34" charset="0"/>
              </a:endParaRPr>
            </a:p>
          </p:txBody>
        </p:sp>
      </p:grpSp>
      <p:sp>
        <p:nvSpPr>
          <p:cNvPr id="328" name="TextBox 327">
            <a:extLst>
              <a:ext uri="{FF2B5EF4-FFF2-40B4-BE49-F238E27FC236}">
                <a16:creationId xmlns:a16="http://schemas.microsoft.com/office/drawing/2014/main" id="{CC5E1C8D-4E2E-296E-C745-7D81FAE25B5F}"/>
              </a:ext>
            </a:extLst>
          </p:cNvPr>
          <p:cNvSpPr txBox="1"/>
          <p:nvPr/>
        </p:nvSpPr>
        <p:spPr>
          <a:xfrm>
            <a:off x="29500634" y="26618873"/>
            <a:ext cx="13324114" cy="400431"/>
          </a:xfrm>
          <a:prstGeom prst="rect">
            <a:avLst/>
          </a:prstGeom>
          <a:noFill/>
          <a:ln>
            <a:noFill/>
          </a:ln>
        </p:spPr>
        <p:txBody>
          <a:bodyPr wrap="square" rtlCol="0">
            <a:spAutoFit/>
          </a:bodyPr>
          <a:lstStyle/>
          <a:p>
            <a:pPr algn="just"/>
            <a:endParaRPr lang="en-US" sz="2002">
              <a:latin typeface="Arial" panose="020B0604020202020204" pitchFamily="34" charset="0"/>
              <a:ea typeface="Tahoma" panose="020B0604030504040204" pitchFamily="34" charset="0"/>
              <a:cs typeface="Arial" panose="020B0604020202020204" pitchFamily="34" charset="0"/>
            </a:endParaRPr>
          </a:p>
        </p:txBody>
      </p:sp>
      <p:sp>
        <p:nvSpPr>
          <p:cNvPr id="52" name="Rectangle 51">
            <a:extLst>
              <a:ext uri="{FF2B5EF4-FFF2-40B4-BE49-F238E27FC236}">
                <a16:creationId xmlns:a16="http://schemas.microsoft.com/office/drawing/2014/main" id="{39903938-9C2C-85B3-784F-817A56E10BC2}"/>
              </a:ext>
            </a:extLst>
          </p:cNvPr>
          <p:cNvSpPr/>
          <p:nvPr/>
        </p:nvSpPr>
        <p:spPr>
          <a:xfrm>
            <a:off x="1320801" y="19406407"/>
            <a:ext cx="279130" cy="369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78"/>
          </a:p>
        </p:txBody>
      </p:sp>
      <p:sp>
        <p:nvSpPr>
          <p:cNvPr id="53" name="Rectangle 52">
            <a:extLst>
              <a:ext uri="{FF2B5EF4-FFF2-40B4-BE49-F238E27FC236}">
                <a16:creationId xmlns:a16="http://schemas.microsoft.com/office/drawing/2014/main" id="{CB118895-5AFB-B489-F0D1-A45D6B6B02A9}"/>
              </a:ext>
            </a:extLst>
          </p:cNvPr>
          <p:cNvSpPr/>
          <p:nvPr/>
        </p:nvSpPr>
        <p:spPr>
          <a:xfrm>
            <a:off x="1226120" y="21131321"/>
            <a:ext cx="279130" cy="369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78"/>
          </a:p>
        </p:txBody>
      </p:sp>
      <p:sp>
        <p:nvSpPr>
          <p:cNvPr id="466" name="Rectangle 465">
            <a:extLst>
              <a:ext uri="{FF2B5EF4-FFF2-40B4-BE49-F238E27FC236}">
                <a16:creationId xmlns:a16="http://schemas.microsoft.com/office/drawing/2014/main" id="{6E5B00BD-1FED-713B-6285-69D0D93F931E}"/>
              </a:ext>
            </a:extLst>
          </p:cNvPr>
          <p:cNvSpPr/>
          <p:nvPr/>
        </p:nvSpPr>
        <p:spPr>
          <a:xfrm>
            <a:off x="2122526" y="19401687"/>
            <a:ext cx="752477" cy="92995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978"/>
          </a:p>
        </p:txBody>
      </p:sp>
      <p:sp>
        <p:nvSpPr>
          <p:cNvPr id="467" name="Rectangle 466">
            <a:extLst>
              <a:ext uri="{FF2B5EF4-FFF2-40B4-BE49-F238E27FC236}">
                <a16:creationId xmlns:a16="http://schemas.microsoft.com/office/drawing/2014/main" id="{9F97F73B-8937-E952-D3BA-B0E3850ABE9B}"/>
              </a:ext>
            </a:extLst>
          </p:cNvPr>
          <p:cNvSpPr/>
          <p:nvPr/>
        </p:nvSpPr>
        <p:spPr>
          <a:xfrm>
            <a:off x="1782551" y="20628652"/>
            <a:ext cx="752477" cy="92995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978"/>
          </a:p>
        </p:txBody>
      </p:sp>
      <p:grpSp>
        <p:nvGrpSpPr>
          <p:cNvPr id="482" name="Group 481">
            <a:extLst>
              <a:ext uri="{FF2B5EF4-FFF2-40B4-BE49-F238E27FC236}">
                <a16:creationId xmlns:a16="http://schemas.microsoft.com/office/drawing/2014/main" id="{AAE0D3B6-4C76-C0BD-2C40-A0D0BA3A8AD3}"/>
              </a:ext>
            </a:extLst>
          </p:cNvPr>
          <p:cNvGrpSpPr/>
          <p:nvPr/>
        </p:nvGrpSpPr>
        <p:grpSpPr>
          <a:xfrm>
            <a:off x="29220817" y="19936703"/>
            <a:ext cx="13882290" cy="1018900"/>
            <a:chOff x="1528218" y="8042932"/>
            <a:chExt cx="13717108" cy="1188720"/>
          </a:xfrm>
        </p:grpSpPr>
        <p:sp>
          <p:nvSpPr>
            <p:cNvPr id="484" name="Rectangle 483">
              <a:extLst>
                <a:ext uri="{FF2B5EF4-FFF2-40B4-BE49-F238E27FC236}">
                  <a16:creationId xmlns:a16="http://schemas.microsoft.com/office/drawing/2014/main" id="{E4C6D1D8-7EE2-AD19-82E5-76650E7A222E}"/>
                </a:ext>
              </a:extLst>
            </p:cNvPr>
            <p:cNvSpPr/>
            <p:nvPr/>
          </p:nvSpPr>
          <p:spPr>
            <a:xfrm>
              <a:off x="1528422" y="8042932"/>
              <a:ext cx="13716000" cy="1188720"/>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141"/>
            </a:p>
          </p:txBody>
        </p:sp>
        <p:cxnSp>
          <p:nvCxnSpPr>
            <p:cNvPr id="485" name="Straight Connector 484">
              <a:extLst>
                <a:ext uri="{FF2B5EF4-FFF2-40B4-BE49-F238E27FC236}">
                  <a16:creationId xmlns:a16="http://schemas.microsoft.com/office/drawing/2014/main" id="{1F250F16-7831-79CE-66E4-3C45485EBBC8}"/>
                </a:ext>
              </a:extLst>
            </p:cNvPr>
            <p:cNvCxnSpPr/>
            <p:nvPr/>
          </p:nvCxnSpPr>
          <p:spPr>
            <a:xfrm>
              <a:off x="1529326" y="8108886"/>
              <a:ext cx="13716000" cy="0"/>
            </a:xfrm>
            <a:prstGeom prst="line">
              <a:avLst/>
            </a:prstGeom>
            <a:ln w="139700" cmpd="sng">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6" name="Straight Connector 485">
              <a:extLst>
                <a:ext uri="{FF2B5EF4-FFF2-40B4-BE49-F238E27FC236}">
                  <a16:creationId xmlns:a16="http://schemas.microsoft.com/office/drawing/2014/main" id="{91946D21-CB19-7127-3BA9-52E050950BE6}"/>
                </a:ext>
              </a:extLst>
            </p:cNvPr>
            <p:cNvCxnSpPr/>
            <p:nvPr/>
          </p:nvCxnSpPr>
          <p:spPr>
            <a:xfrm>
              <a:off x="1528218" y="9129345"/>
              <a:ext cx="13716000" cy="0"/>
            </a:xfrm>
            <a:prstGeom prst="line">
              <a:avLst/>
            </a:prstGeom>
            <a:ln w="215900" cmpd="thinThick">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487" name="TextBox 486">
              <a:extLst>
                <a:ext uri="{FF2B5EF4-FFF2-40B4-BE49-F238E27FC236}">
                  <a16:creationId xmlns:a16="http://schemas.microsoft.com/office/drawing/2014/main" id="{33D26C82-0D40-A912-8FB8-F5E393C79B99}"/>
                </a:ext>
              </a:extLst>
            </p:cNvPr>
            <p:cNvSpPr txBox="1"/>
            <p:nvPr/>
          </p:nvSpPr>
          <p:spPr>
            <a:xfrm>
              <a:off x="5235037" y="8108195"/>
              <a:ext cx="6302357" cy="999647"/>
            </a:xfrm>
            <a:prstGeom prst="rect">
              <a:avLst/>
            </a:prstGeom>
            <a:noFill/>
          </p:spPr>
          <p:txBody>
            <a:bodyPr wrap="square" lIns="91440" tIns="45720" rIns="91440" bIns="45720" rtlCol="0" anchor="t">
              <a:spAutoFit/>
            </a:bodyPr>
            <a:lstStyle/>
            <a:p>
              <a:pPr algn="ctr"/>
              <a:r>
                <a:rPr lang="en-US" sz="4950" b="1">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Limitations</a:t>
              </a:r>
              <a:endParaRPr lang="en-US"/>
            </a:p>
          </p:txBody>
        </p:sp>
      </p:grpSp>
      <p:cxnSp>
        <p:nvCxnSpPr>
          <p:cNvPr id="14" name="Straight Connector 23">
            <a:extLst>
              <a:ext uri="{FF2B5EF4-FFF2-40B4-BE49-F238E27FC236}">
                <a16:creationId xmlns:a16="http://schemas.microsoft.com/office/drawing/2014/main" id="{9C39F362-7A12-7430-EEF4-1FE192790719}"/>
              </a:ext>
            </a:extLst>
          </p:cNvPr>
          <p:cNvCxnSpPr>
            <a:cxnSpLocks/>
          </p:cNvCxnSpPr>
          <p:nvPr/>
        </p:nvCxnSpPr>
        <p:spPr>
          <a:xfrm>
            <a:off x="21930861" y="23801142"/>
            <a:ext cx="290942"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23">
            <a:extLst>
              <a:ext uri="{FF2B5EF4-FFF2-40B4-BE49-F238E27FC236}">
                <a16:creationId xmlns:a16="http://schemas.microsoft.com/office/drawing/2014/main" id="{1B376430-9107-FD09-5431-BF2241037FE4}"/>
              </a:ext>
            </a:extLst>
          </p:cNvPr>
          <p:cNvCxnSpPr>
            <a:cxnSpLocks/>
          </p:cNvCxnSpPr>
          <p:nvPr/>
        </p:nvCxnSpPr>
        <p:spPr>
          <a:xfrm>
            <a:off x="23539586" y="23801142"/>
            <a:ext cx="290942"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23">
            <a:extLst>
              <a:ext uri="{FF2B5EF4-FFF2-40B4-BE49-F238E27FC236}">
                <a16:creationId xmlns:a16="http://schemas.microsoft.com/office/drawing/2014/main" id="{A3607B9D-410C-3C84-713A-B9568B89C34B}"/>
              </a:ext>
            </a:extLst>
          </p:cNvPr>
          <p:cNvCxnSpPr>
            <a:cxnSpLocks/>
          </p:cNvCxnSpPr>
          <p:nvPr/>
        </p:nvCxnSpPr>
        <p:spPr>
          <a:xfrm>
            <a:off x="24935378" y="23943817"/>
            <a:ext cx="290942"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7" name="Straight Connector 23">
            <a:extLst>
              <a:ext uri="{FF2B5EF4-FFF2-40B4-BE49-F238E27FC236}">
                <a16:creationId xmlns:a16="http://schemas.microsoft.com/office/drawing/2014/main" id="{AA4DDF76-259E-9B36-1F36-C87DB3633EA2}"/>
              </a:ext>
            </a:extLst>
          </p:cNvPr>
          <p:cNvCxnSpPr>
            <a:cxnSpLocks/>
          </p:cNvCxnSpPr>
          <p:nvPr/>
        </p:nvCxnSpPr>
        <p:spPr>
          <a:xfrm>
            <a:off x="22415041" y="23789526"/>
            <a:ext cx="357154" cy="527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474" name="TextBox 473">
            <a:extLst>
              <a:ext uri="{FF2B5EF4-FFF2-40B4-BE49-F238E27FC236}">
                <a16:creationId xmlns:a16="http://schemas.microsoft.com/office/drawing/2014/main" id="{00066456-3022-5B04-8445-5B5792C991D1}"/>
              </a:ext>
            </a:extLst>
          </p:cNvPr>
          <p:cNvSpPr txBox="1"/>
          <p:nvPr/>
        </p:nvSpPr>
        <p:spPr>
          <a:xfrm>
            <a:off x="21996100" y="7986982"/>
            <a:ext cx="906998" cy="387209"/>
          </a:xfrm>
          <a:prstGeom prst="rect">
            <a:avLst/>
          </a:prstGeom>
          <a:noFill/>
          <a:ln>
            <a:noFill/>
          </a:ln>
        </p:spPr>
        <p:txBody>
          <a:bodyPr wrap="square" lIns="78341" tIns="39173" rIns="78341" bIns="39173" rtlCol="0" anchor="ctr" anchorCtr="1">
            <a:spAutoFit/>
          </a:bodyPr>
          <a:lstStyle/>
          <a:p>
            <a:r>
              <a:rPr lang="en-US" sz="2002" b="1">
                <a:latin typeface="Arial" panose="020B0604020202020204" pitchFamily="34" charset="0"/>
                <a:cs typeface="Arial" panose="020B0604020202020204" pitchFamily="34" charset="0"/>
              </a:rPr>
              <a:t>D.</a:t>
            </a:r>
          </a:p>
        </p:txBody>
      </p:sp>
      <p:sp>
        <p:nvSpPr>
          <p:cNvPr id="473" name="TextBox 472">
            <a:extLst>
              <a:ext uri="{FF2B5EF4-FFF2-40B4-BE49-F238E27FC236}">
                <a16:creationId xmlns:a16="http://schemas.microsoft.com/office/drawing/2014/main" id="{21B8CDE5-DD4B-701A-0500-335C78AADC86}"/>
              </a:ext>
            </a:extLst>
          </p:cNvPr>
          <p:cNvSpPr txBox="1"/>
          <p:nvPr/>
        </p:nvSpPr>
        <p:spPr>
          <a:xfrm>
            <a:off x="15943866" y="12337297"/>
            <a:ext cx="906998" cy="387209"/>
          </a:xfrm>
          <a:prstGeom prst="rect">
            <a:avLst/>
          </a:prstGeom>
          <a:noFill/>
          <a:ln>
            <a:noFill/>
          </a:ln>
        </p:spPr>
        <p:txBody>
          <a:bodyPr wrap="square" lIns="78341" tIns="39173" rIns="78341" bIns="39173" rtlCol="0" anchor="ctr" anchorCtr="1">
            <a:spAutoFit/>
          </a:bodyPr>
          <a:lstStyle/>
          <a:p>
            <a:r>
              <a:rPr lang="en-US" sz="2002" b="1">
                <a:latin typeface="Arial" panose="020B0604020202020204" pitchFamily="34" charset="0"/>
                <a:cs typeface="Arial" panose="020B0604020202020204" pitchFamily="34" charset="0"/>
              </a:rPr>
              <a:t>E.</a:t>
            </a:r>
          </a:p>
        </p:txBody>
      </p:sp>
      <p:sp>
        <p:nvSpPr>
          <p:cNvPr id="51" name="TextBox 50">
            <a:extLst>
              <a:ext uri="{FF2B5EF4-FFF2-40B4-BE49-F238E27FC236}">
                <a16:creationId xmlns:a16="http://schemas.microsoft.com/office/drawing/2014/main" id="{FAB6413C-6A77-AD8C-7BC2-0E4C5838C7E8}"/>
              </a:ext>
            </a:extLst>
          </p:cNvPr>
          <p:cNvSpPr txBox="1"/>
          <p:nvPr/>
        </p:nvSpPr>
        <p:spPr>
          <a:xfrm>
            <a:off x="16044601" y="19239939"/>
            <a:ext cx="906998" cy="387209"/>
          </a:xfrm>
          <a:prstGeom prst="rect">
            <a:avLst/>
          </a:prstGeom>
          <a:noFill/>
          <a:ln>
            <a:noFill/>
          </a:ln>
        </p:spPr>
        <p:txBody>
          <a:bodyPr wrap="square" lIns="78341" tIns="39173" rIns="78341" bIns="39173" rtlCol="0" anchor="ctr" anchorCtr="1">
            <a:spAutoFit/>
          </a:bodyPr>
          <a:lstStyle/>
          <a:p>
            <a:r>
              <a:rPr lang="en-US" sz="2002" b="1">
                <a:latin typeface="Arial" panose="020B0604020202020204" pitchFamily="34" charset="0"/>
                <a:cs typeface="Arial" panose="020B0604020202020204" pitchFamily="34" charset="0"/>
              </a:rPr>
              <a:t>A.</a:t>
            </a:r>
          </a:p>
        </p:txBody>
      </p:sp>
      <p:sp>
        <p:nvSpPr>
          <p:cNvPr id="494" name="TextBox 493">
            <a:extLst>
              <a:ext uri="{FF2B5EF4-FFF2-40B4-BE49-F238E27FC236}">
                <a16:creationId xmlns:a16="http://schemas.microsoft.com/office/drawing/2014/main" id="{0F3245AB-2662-B39A-45B2-2441ACAD34A5}"/>
              </a:ext>
            </a:extLst>
          </p:cNvPr>
          <p:cNvSpPr txBox="1"/>
          <p:nvPr/>
        </p:nvSpPr>
        <p:spPr>
          <a:xfrm>
            <a:off x="29396136" y="7592242"/>
            <a:ext cx="906998" cy="387209"/>
          </a:xfrm>
          <a:prstGeom prst="rect">
            <a:avLst/>
          </a:prstGeom>
          <a:noFill/>
          <a:ln>
            <a:noFill/>
          </a:ln>
        </p:spPr>
        <p:txBody>
          <a:bodyPr wrap="square" lIns="78341" tIns="39173" rIns="78341" bIns="39173" rtlCol="0" anchor="ctr" anchorCtr="1">
            <a:spAutoFit/>
          </a:bodyPr>
          <a:lstStyle/>
          <a:p>
            <a:r>
              <a:rPr lang="en-US" sz="2002" b="1">
                <a:latin typeface="Arial" panose="020B0604020202020204" pitchFamily="34" charset="0"/>
                <a:cs typeface="Arial" panose="020B0604020202020204" pitchFamily="34" charset="0"/>
              </a:rPr>
              <a:t>A.</a:t>
            </a:r>
          </a:p>
        </p:txBody>
      </p:sp>
      <p:sp>
        <p:nvSpPr>
          <p:cNvPr id="503" name="TextBox 502">
            <a:extLst>
              <a:ext uri="{FF2B5EF4-FFF2-40B4-BE49-F238E27FC236}">
                <a16:creationId xmlns:a16="http://schemas.microsoft.com/office/drawing/2014/main" id="{B7B222D0-298D-7A0C-65AA-E0C745039754}"/>
              </a:ext>
            </a:extLst>
          </p:cNvPr>
          <p:cNvSpPr txBox="1"/>
          <p:nvPr/>
        </p:nvSpPr>
        <p:spPr>
          <a:xfrm>
            <a:off x="29554956" y="13353666"/>
            <a:ext cx="13184874" cy="607539"/>
          </a:xfrm>
          <a:prstGeom prst="rect">
            <a:avLst/>
          </a:prstGeom>
          <a:noFill/>
        </p:spPr>
        <p:txBody>
          <a:bodyPr wrap="square" rtlCol="0">
            <a:spAutoFit/>
          </a:bodyPr>
          <a:lstStyle/>
          <a:p>
            <a:pPr algn="just">
              <a:lnSpc>
                <a:spcPct val="107000"/>
              </a:lnSpc>
              <a:spcAft>
                <a:spcPts val="802"/>
              </a:spcAft>
            </a:pPr>
            <a:r>
              <a:rPr lang="en-US" sz="1600" b="1" kern="100">
                <a:solidFill>
                  <a:srgbClr val="000000"/>
                </a:solidFill>
                <a:latin typeface="Arial" panose="020B0604020202020204" pitchFamily="34" charset="0"/>
                <a:ea typeface="DengXian" panose="02010600030101010101" pitchFamily="2" charset="-122"/>
                <a:cs typeface="Arial" panose="020B0604020202020204" pitchFamily="34" charset="0"/>
              </a:rPr>
              <a:t>Figure 4. UMAP visualization of single-cell analysis. (A) Cell-Type </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UMAP visualization of cell types for single-cell </a:t>
            </a:r>
            <a:r>
              <a:rPr lang="en-US" sz="1600" kern="100" err="1">
                <a:solidFill>
                  <a:srgbClr val="000000"/>
                </a:solidFill>
                <a:latin typeface="Arial" panose="020B0604020202020204" pitchFamily="34" charset="0"/>
                <a:ea typeface="DengXian" panose="02010600030101010101" pitchFamily="2" charset="-122"/>
                <a:cs typeface="Arial" panose="020B0604020202020204" pitchFamily="34" charset="0"/>
              </a:rPr>
              <a:t>RNAseq</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 data. </a:t>
            </a:r>
            <a:r>
              <a:rPr lang="en-US" sz="1600" b="1" kern="100">
                <a:solidFill>
                  <a:srgbClr val="000000"/>
                </a:solidFill>
                <a:latin typeface="Arial" panose="020B0604020202020204" pitchFamily="34" charset="0"/>
                <a:ea typeface="DengXian" panose="02010600030101010101" pitchFamily="2" charset="-122"/>
                <a:cs typeface="Arial" panose="020B0604020202020204" pitchFamily="34" charset="0"/>
              </a:rPr>
              <a:t>(B) Condition </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UMAP visualization of condition type for single-cell </a:t>
            </a:r>
            <a:r>
              <a:rPr lang="en-US" sz="1600" kern="100" err="1">
                <a:solidFill>
                  <a:srgbClr val="000000"/>
                </a:solidFill>
                <a:latin typeface="Arial" panose="020B0604020202020204" pitchFamily="34" charset="0"/>
                <a:ea typeface="DengXian" panose="02010600030101010101" pitchFamily="2" charset="-122"/>
                <a:cs typeface="Arial" panose="020B0604020202020204" pitchFamily="34" charset="0"/>
              </a:rPr>
              <a:t>RNAseq</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 data from Ben Logsdon.</a:t>
            </a:r>
          </a:p>
        </p:txBody>
      </p:sp>
      <p:cxnSp>
        <p:nvCxnSpPr>
          <p:cNvPr id="41" name="Straight Connector 23">
            <a:extLst>
              <a:ext uri="{FF2B5EF4-FFF2-40B4-BE49-F238E27FC236}">
                <a16:creationId xmlns:a16="http://schemas.microsoft.com/office/drawing/2014/main" id="{35FB07B6-18ED-B886-98F9-0136D286D66A}"/>
              </a:ext>
            </a:extLst>
          </p:cNvPr>
          <p:cNvCxnSpPr>
            <a:cxnSpLocks/>
          </p:cNvCxnSpPr>
          <p:nvPr/>
        </p:nvCxnSpPr>
        <p:spPr>
          <a:xfrm>
            <a:off x="20193612" y="8505442"/>
            <a:ext cx="357154" cy="527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6" name="Straight Connector 23">
            <a:extLst>
              <a:ext uri="{FF2B5EF4-FFF2-40B4-BE49-F238E27FC236}">
                <a16:creationId xmlns:a16="http://schemas.microsoft.com/office/drawing/2014/main" id="{C1D54A8E-34B2-4FD9-5A6B-3B0EC4A97496}"/>
              </a:ext>
            </a:extLst>
          </p:cNvPr>
          <p:cNvCxnSpPr>
            <a:cxnSpLocks/>
          </p:cNvCxnSpPr>
          <p:nvPr/>
        </p:nvCxnSpPr>
        <p:spPr>
          <a:xfrm>
            <a:off x="23935202" y="8514418"/>
            <a:ext cx="357154" cy="527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5211FBF-CAFA-C4EB-1C49-19860DBF53FF}"/>
              </a:ext>
            </a:extLst>
          </p:cNvPr>
          <p:cNvSpPr txBox="1"/>
          <p:nvPr/>
        </p:nvSpPr>
        <p:spPr>
          <a:xfrm>
            <a:off x="29212682" y="31564057"/>
            <a:ext cx="13352914" cy="646331"/>
          </a:xfrm>
          <a:prstGeom prst="rect">
            <a:avLst/>
          </a:prstGeom>
          <a:noFill/>
        </p:spPr>
        <p:txBody>
          <a:bodyPr wrap="square" rtlCol="0">
            <a:spAutoFit/>
          </a:bodyPr>
          <a:lstStyle/>
          <a:p>
            <a:r>
              <a:rPr lang="en-US" sz="1800"/>
              <a:t>We thank Dr. Amanda </a:t>
            </a:r>
            <a:r>
              <a:rPr lang="en-US" sz="1800" err="1"/>
              <a:t>Larracuente</a:t>
            </a:r>
            <a:r>
              <a:rPr lang="en-US" sz="1800"/>
              <a:t> and the BIO 257 TAs for her support and guidance throughout this project.</a:t>
            </a:r>
            <a:br>
              <a:rPr lang="en-US" sz="1800"/>
            </a:br>
            <a:r>
              <a:rPr lang="en-US" sz="1800"/>
              <a:t>We also thank Logsdon, Vogt, and </a:t>
            </a:r>
            <a:r>
              <a:rPr lang="en-US" sz="1800" err="1"/>
              <a:t>Maffioli</a:t>
            </a:r>
            <a:r>
              <a:rPr lang="en-US" sz="1800"/>
              <a:t> for making their data publicly accessible, which enabled our analyses.</a:t>
            </a:r>
          </a:p>
        </p:txBody>
      </p:sp>
      <p:sp>
        <p:nvSpPr>
          <p:cNvPr id="11" name="TextBox 10">
            <a:extLst>
              <a:ext uri="{FF2B5EF4-FFF2-40B4-BE49-F238E27FC236}">
                <a16:creationId xmlns:a16="http://schemas.microsoft.com/office/drawing/2014/main" id="{211D4D08-1EEF-6F36-DF4F-B814124AB16C}"/>
              </a:ext>
            </a:extLst>
          </p:cNvPr>
          <p:cNvSpPr txBox="1"/>
          <p:nvPr/>
        </p:nvSpPr>
        <p:spPr>
          <a:xfrm>
            <a:off x="29229092" y="26898073"/>
            <a:ext cx="6758298" cy="3139321"/>
          </a:xfrm>
          <a:prstGeom prst="rect">
            <a:avLst/>
          </a:prstGeom>
          <a:noFill/>
        </p:spPr>
        <p:txBody>
          <a:bodyPr wrap="square" rtlCol="0">
            <a:spAutoFit/>
          </a:bodyPr>
          <a:lstStyle/>
          <a:p>
            <a:r>
              <a:rPr lang="en-US" sz="1800" err="1"/>
              <a:t>Maffioli</a:t>
            </a:r>
            <a:r>
              <a:rPr lang="en-US" sz="1800"/>
              <a:t>, E., </a:t>
            </a:r>
            <a:r>
              <a:rPr lang="en-US" sz="1800" err="1"/>
              <a:t>Murtas</a:t>
            </a:r>
            <a:r>
              <a:rPr lang="en-US" sz="1800"/>
              <a:t>, G., </a:t>
            </a:r>
            <a:r>
              <a:rPr lang="en-US" sz="1800" err="1"/>
              <a:t>Rabattoni</a:t>
            </a:r>
            <a:r>
              <a:rPr lang="en-US" sz="1800"/>
              <a:t>, V., </a:t>
            </a:r>
            <a:r>
              <a:rPr lang="en-US" sz="1800" err="1"/>
              <a:t>Badone</a:t>
            </a:r>
            <a:r>
              <a:rPr lang="en-US" sz="1800"/>
              <a:t>, B., </a:t>
            </a:r>
            <a:r>
              <a:rPr lang="en-US" sz="1800" err="1"/>
              <a:t>Tripodi</a:t>
            </a:r>
            <a:r>
              <a:rPr lang="en-US" sz="1800"/>
              <a:t>, F., </a:t>
            </a:r>
            <a:r>
              <a:rPr lang="en-US" sz="1800" err="1"/>
              <a:t>Iannuzzi</a:t>
            </a:r>
            <a:r>
              <a:rPr lang="en-US" sz="1800"/>
              <a:t>, F., </a:t>
            </a:r>
            <a:r>
              <a:rPr lang="en-US" sz="1800" err="1"/>
              <a:t>Licastro</a:t>
            </a:r>
            <a:r>
              <a:rPr lang="en-US" sz="1800"/>
              <a:t>, D., </a:t>
            </a:r>
            <a:r>
              <a:rPr lang="en-US" sz="1800" err="1"/>
              <a:t>Nonnis</a:t>
            </a:r>
            <a:r>
              <a:rPr lang="en-US" sz="1800"/>
              <a:t>, S., Rinaldi, A. M., Motta, Z., </a:t>
            </a:r>
            <a:r>
              <a:rPr lang="en-US" sz="1800" err="1"/>
              <a:t>Sacchi</a:t>
            </a:r>
            <a:r>
              <a:rPr lang="en-US" sz="1800"/>
              <a:t>, S., </a:t>
            </a:r>
            <a:r>
              <a:rPr lang="en-US" sz="1800" err="1"/>
              <a:t>Canu</a:t>
            </a:r>
            <a:r>
              <a:rPr lang="en-US" sz="1800"/>
              <a:t>, N., Tedeschi, G., </a:t>
            </a:r>
            <a:r>
              <a:rPr lang="en-US" sz="1800" err="1"/>
              <a:t>Coccetti</a:t>
            </a:r>
            <a:r>
              <a:rPr lang="en-US" sz="1800"/>
              <a:t>, P., &amp; </a:t>
            </a:r>
            <a:r>
              <a:rPr lang="en-US" sz="1800" err="1"/>
              <a:t>Pollegioni</a:t>
            </a:r>
            <a:r>
              <a:rPr lang="en-US" sz="1800"/>
              <a:t>, L. (2022).</a:t>
            </a:r>
          </a:p>
          <a:p>
            <a:r>
              <a:rPr lang="en-US" sz="1800"/>
              <a:t>Insulin and serine metabolism as sex-specific hallmarks of Alzheimer`s disease in the human hippocampus.</a:t>
            </a:r>
          </a:p>
          <a:p>
            <a:r>
              <a:rPr lang="en-US" sz="1800"/>
              <a:t>Cell Reports, 40(10), 111271.</a:t>
            </a:r>
          </a:p>
          <a:p>
            <a:r>
              <a:rPr lang="en-US" sz="1800"/>
              <a:t>Li, J., Feng, G., Huang, Z., Fang, Y., Li, Y., Xu, W., &amp; Guo, G. (2024). Aedes aegypti gut microbiome modulates arbovirus infectivity through antiviral immune pathways. PLOS Pathogens, 20(3), e1012286. https://</a:t>
            </a:r>
            <a:r>
              <a:rPr lang="en-US" sz="1800" err="1"/>
              <a:t>doi.org</a:t>
            </a:r>
            <a:r>
              <a:rPr lang="en-US" sz="1800"/>
              <a:t>/10.1371/journal.ppat.1012286.g001</a:t>
            </a:r>
          </a:p>
          <a:p>
            <a:endParaRPr lang="en-US" sz="1800"/>
          </a:p>
        </p:txBody>
      </p:sp>
      <p:grpSp>
        <p:nvGrpSpPr>
          <p:cNvPr id="25" name="Group 24">
            <a:extLst>
              <a:ext uri="{FF2B5EF4-FFF2-40B4-BE49-F238E27FC236}">
                <a16:creationId xmlns:a16="http://schemas.microsoft.com/office/drawing/2014/main" id="{1FC53A91-CE6B-8185-185C-6D9146C53108}"/>
              </a:ext>
            </a:extLst>
          </p:cNvPr>
          <p:cNvGrpSpPr/>
          <p:nvPr/>
        </p:nvGrpSpPr>
        <p:grpSpPr>
          <a:xfrm>
            <a:off x="353629" y="24541469"/>
            <a:ext cx="14928089" cy="1018901"/>
            <a:chOff x="726443" y="7966731"/>
            <a:chExt cx="16213239" cy="1188720"/>
          </a:xfrm>
        </p:grpSpPr>
        <p:grpSp>
          <p:nvGrpSpPr>
            <p:cNvPr id="26" name="Group 25">
              <a:extLst>
                <a:ext uri="{FF2B5EF4-FFF2-40B4-BE49-F238E27FC236}">
                  <a16:creationId xmlns:a16="http://schemas.microsoft.com/office/drawing/2014/main" id="{52FAB40D-867C-FB32-B7D9-C528662FD681}"/>
                </a:ext>
              </a:extLst>
            </p:cNvPr>
            <p:cNvGrpSpPr/>
            <p:nvPr/>
          </p:nvGrpSpPr>
          <p:grpSpPr>
            <a:xfrm>
              <a:off x="726443" y="7966731"/>
              <a:ext cx="16211954" cy="1188720"/>
              <a:chOff x="939504" y="8042931"/>
              <a:chExt cx="14305822" cy="1188720"/>
            </a:xfrm>
          </p:grpSpPr>
          <p:sp>
            <p:nvSpPr>
              <p:cNvPr id="28" name="Rectangle 27">
                <a:extLst>
                  <a:ext uri="{FF2B5EF4-FFF2-40B4-BE49-F238E27FC236}">
                    <a16:creationId xmlns:a16="http://schemas.microsoft.com/office/drawing/2014/main" id="{9F58F5F8-9173-116B-08C2-A74D56E37B92}"/>
                  </a:ext>
                </a:extLst>
              </p:cNvPr>
              <p:cNvSpPr/>
              <p:nvPr/>
            </p:nvSpPr>
            <p:spPr>
              <a:xfrm>
                <a:off x="1528421" y="8042931"/>
                <a:ext cx="13716000" cy="1188720"/>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141"/>
              </a:p>
            </p:txBody>
          </p:sp>
          <p:cxnSp>
            <p:nvCxnSpPr>
              <p:cNvPr id="29" name="Straight Connector 28">
                <a:extLst>
                  <a:ext uri="{FF2B5EF4-FFF2-40B4-BE49-F238E27FC236}">
                    <a16:creationId xmlns:a16="http://schemas.microsoft.com/office/drawing/2014/main" id="{05401C2B-5427-4ED3-FCD1-B21077C4D261}"/>
                  </a:ext>
                </a:extLst>
              </p:cNvPr>
              <p:cNvCxnSpPr/>
              <p:nvPr/>
            </p:nvCxnSpPr>
            <p:spPr>
              <a:xfrm>
                <a:off x="1529326" y="8108886"/>
                <a:ext cx="13716000" cy="0"/>
              </a:xfrm>
              <a:prstGeom prst="line">
                <a:avLst/>
              </a:prstGeom>
              <a:ln w="139700" cmpd="sng">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148C933-D6E8-D679-2F4D-EF0A6389EA3C}"/>
                  </a:ext>
                </a:extLst>
              </p:cNvPr>
              <p:cNvCxnSpPr/>
              <p:nvPr/>
            </p:nvCxnSpPr>
            <p:spPr>
              <a:xfrm>
                <a:off x="1528218" y="9121911"/>
                <a:ext cx="13716000" cy="0"/>
              </a:xfrm>
              <a:prstGeom prst="line">
                <a:avLst/>
              </a:prstGeom>
              <a:ln w="215900" cmpd="thinThick">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634DD5F8-A0A4-0C5B-DD88-2A9A4A493BD5}"/>
                  </a:ext>
                </a:extLst>
              </p:cNvPr>
              <p:cNvSpPr txBox="1"/>
              <p:nvPr/>
            </p:nvSpPr>
            <p:spPr>
              <a:xfrm>
                <a:off x="939504" y="8102834"/>
                <a:ext cx="13765744" cy="999646"/>
              </a:xfrm>
              <a:prstGeom prst="rect">
                <a:avLst/>
              </a:prstGeom>
              <a:noFill/>
            </p:spPr>
            <p:txBody>
              <a:bodyPr wrap="square" rtlCol="0">
                <a:spAutoFit/>
              </a:bodyPr>
              <a:lstStyle/>
              <a:p>
                <a:pPr algn="ctr"/>
                <a:r>
                  <a:rPr lang="en-US" sz="4968" b="1">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Results</a:t>
                </a:r>
              </a:p>
            </p:txBody>
          </p:sp>
        </p:grpSp>
        <p:cxnSp>
          <p:nvCxnSpPr>
            <p:cNvPr id="27" name="Straight Connector 26">
              <a:extLst>
                <a:ext uri="{FF2B5EF4-FFF2-40B4-BE49-F238E27FC236}">
                  <a16:creationId xmlns:a16="http://schemas.microsoft.com/office/drawing/2014/main" id="{01BA6EF9-AEBA-B9CA-06C9-1EF3E55F4E95}"/>
                </a:ext>
              </a:extLst>
            </p:cNvPr>
            <p:cNvCxnSpPr/>
            <p:nvPr/>
          </p:nvCxnSpPr>
          <p:spPr>
            <a:xfrm>
              <a:off x="1392237" y="8096516"/>
              <a:ext cx="15547445"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FB21CDD3-6E42-8A44-5433-FB88E4B17AD9}"/>
              </a:ext>
            </a:extLst>
          </p:cNvPr>
          <p:cNvSpPr txBox="1"/>
          <p:nvPr/>
        </p:nvSpPr>
        <p:spPr>
          <a:xfrm>
            <a:off x="36328171" y="26892739"/>
            <a:ext cx="6648052" cy="2862322"/>
          </a:xfrm>
          <a:prstGeom prst="rect">
            <a:avLst/>
          </a:prstGeom>
          <a:noFill/>
        </p:spPr>
        <p:txBody>
          <a:bodyPr wrap="square" rtlCol="0">
            <a:spAutoFit/>
          </a:bodyPr>
          <a:lstStyle/>
          <a:p>
            <a:r>
              <a:rPr lang="en-US" sz="1800" err="1"/>
              <a:t>Ben.Logsdon</a:t>
            </a:r>
            <a:r>
              <a:rPr lang="en-US" sz="1800"/>
              <a:t>. (2015). AMP AD Target Discovery Data Portal [Dataset]. Synapse. https://</a:t>
            </a:r>
            <a:r>
              <a:rPr lang="en-US" sz="1800" err="1"/>
              <a:t>doi.org</a:t>
            </a:r>
            <a:r>
              <a:rPr lang="en-US" sz="1800"/>
              <a:t>/10.7303/SYN2580853</a:t>
            </a:r>
          </a:p>
          <a:p>
            <a:r>
              <a:rPr lang="en-US" sz="1800"/>
              <a:t>GENCODE. (n.d.). Human genome annotation — Release 49. from https://</a:t>
            </a:r>
            <a:r>
              <a:rPr lang="en-US" sz="1800" err="1"/>
              <a:t>www.gencodegenes.org</a:t>
            </a:r>
            <a:r>
              <a:rPr lang="en-US" sz="1800"/>
              <a:t>/human/</a:t>
            </a:r>
          </a:p>
          <a:p>
            <a:r>
              <a:rPr lang="en-US" sz="1800"/>
              <a:t>Tan, H.-E. (2023). The microbiota–gut–brain axis in stress and depression. Frontiers in Neuroscience, 17. </a:t>
            </a:r>
            <a:r>
              <a:rPr lang="en-US" sz="1800">
                <a:hlinkClick r:id="rId13">
                  <a:extLst>
                    <a:ext uri="{A12FA001-AC4F-418D-AE19-62706E023703}">
                      <ahyp:hlinkClr xmlns:ahyp="http://schemas.microsoft.com/office/drawing/2018/hyperlinkcolor" val="tx"/>
                    </a:ext>
                  </a:extLst>
                </a:hlinkClick>
              </a:rPr>
              <a:t>https://doi.org/10.3389/fnins.2023.1151478</a:t>
            </a:r>
            <a:endParaRPr lang="en-US" sz="1800"/>
          </a:p>
          <a:p>
            <a:r>
              <a:rPr lang="en-US" sz="1800"/>
              <a:t>Vogt, N. M., Kerby, R. L., Dill-McFarland, K. A. et al. (2017).</a:t>
            </a:r>
          </a:p>
          <a:p>
            <a:r>
              <a:rPr lang="en-US" sz="1800"/>
              <a:t>Gut microbiome alterations in Alzheimer’s disease.</a:t>
            </a:r>
          </a:p>
          <a:p>
            <a:r>
              <a:rPr lang="en-US" sz="1800"/>
              <a:t>Scientific Reports, 7, 13537.</a:t>
            </a:r>
          </a:p>
        </p:txBody>
      </p:sp>
      <p:sp>
        <p:nvSpPr>
          <p:cNvPr id="21" name="TextBox 20">
            <a:extLst>
              <a:ext uri="{FF2B5EF4-FFF2-40B4-BE49-F238E27FC236}">
                <a16:creationId xmlns:a16="http://schemas.microsoft.com/office/drawing/2014/main" id="{49040DFF-C61D-DD3F-AA90-76438598580F}"/>
              </a:ext>
            </a:extLst>
          </p:cNvPr>
          <p:cNvSpPr txBox="1"/>
          <p:nvPr/>
        </p:nvSpPr>
        <p:spPr>
          <a:xfrm>
            <a:off x="29466238" y="29936003"/>
            <a:ext cx="14233787" cy="584775"/>
          </a:xfrm>
          <a:prstGeom prst="rect">
            <a:avLst/>
          </a:prstGeom>
          <a:noFill/>
        </p:spPr>
        <p:txBody>
          <a:bodyPr wrap="square" lIns="91440" tIns="45720" rIns="91440" bIns="45720" rtlCol="0" anchor="t">
            <a:spAutoFit/>
          </a:bodyPr>
          <a:lstStyle/>
          <a:p>
            <a:pPr marL="285750" indent="-285750">
              <a:buFont typeface="Arial"/>
              <a:buChar char="•"/>
            </a:pPr>
            <a:r>
              <a:rPr lang="en-US" sz="1600"/>
              <a:t>For full list of references used in this project refer to: </a:t>
            </a:r>
            <a:r>
              <a:rPr lang="en-US" sz="1600">
                <a:hlinkClick r:id="rId14"/>
              </a:rPr>
              <a:t>https://github.com/Mahathir-Khan/Bio257_2025_Project/blob/main/Papers/References_Master_List.md</a:t>
            </a:r>
            <a:endParaRPr lang="en-US" sz="1600">
              <a:ea typeface="Calibri"/>
              <a:cs typeface="Calibri"/>
            </a:endParaRPr>
          </a:p>
          <a:p>
            <a:pPr marL="285750" indent="-285750">
              <a:buFont typeface="Arial"/>
              <a:buChar char="•"/>
            </a:pPr>
            <a:r>
              <a:rPr lang="en-US" sz="1600">
                <a:ea typeface="Calibri"/>
                <a:cs typeface="Calibri"/>
              </a:rPr>
              <a:t>Images were created using </a:t>
            </a:r>
            <a:r>
              <a:rPr lang="en-US" sz="1600" err="1">
                <a:ea typeface="Calibri"/>
                <a:cs typeface="Calibri"/>
              </a:rPr>
              <a:t>Biorender.com</a:t>
            </a:r>
            <a:endParaRPr lang="en-US" sz="1600">
              <a:ea typeface="Calibri"/>
              <a:cs typeface="Calibri"/>
            </a:endParaRPr>
          </a:p>
        </p:txBody>
      </p:sp>
      <p:sp>
        <p:nvSpPr>
          <p:cNvPr id="2" name="TextBox 1">
            <a:extLst>
              <a:ext uri="{FF2B5EF4-FFF2-40B4-BE49-F238E27FC236}">
                <a16:creationId xmlns:a16="http://schemas.microsoft.com/office/drawing/2014/main" id="{D14EEE4E-5361-4C4E-583C-CA16175A6712}"/>
              </a:ext>
            </a:extLst>
          </p:cNvPr>
          <p:cNvSpPr txBox="1"/>
          <p:nvPr/>
        </p:nvSpPr>
        <p:spPr>
          <a:xfrm>
            <a:off x="29245445" y="23961118"/>
            <a:ext cx="13546143" cy="1754326"/>
          </a:xfrm>
          <a:prstGeom prst="rect">
            <a:avLst/>
          </a:prstGeom>
          <a:noFill/>
        </p:spPr>
        <p:txBody>
          <a:bodyPr wrap="square" rtlCol="0">
            <a:spAutoFit/>
          </a:bodyPr>
          <a:lstStyle/>
          <a:p>
            <a:r>
              <a:rPr lang="en-US" sz="1800"/>
              <a:t>To strengthen the preliminary observations proposed in this study between gut microbiota composition and hippocampal RNA-seq profiles, future studies must prioritize collecting gut and brain samples from the same individuals, rather than relying on multiple separate data sets. Future work should also more rigorously control for potential confounding variables, including dietary habits, medication use, metabolic conditions such as diabetes, and other comorbidities known to influence both gut microbiome diversity and cognitive outcomes. </a:t>
            </a:r>
          </a:p>
          <a:p>
            <a:r>
              <a:rPr lang="en-US" sz="1800"/>
              <a:t>It could also be interesting to investigate fecal metabolites to identify mechanistic changes by which the activity in the gut microbiome effects the brain and AD pathology. </a:t>
            </a:r>
          </a:p>
        </p:txBody>
      </p:sp>
      <p:pic>
        <p:nvPicPr>
          <p:cNvPr id="1030" name="Picture 6" descr="Fig 1">
            <a:extLst>
              <a:ext uri="{FF2B5EF4-FFF2-40B4-BE49-F238E27FC236}">
                <a16:creationId xmlns:a16="http://schemas.microsoft.com/office/drawing/2014/main" id="{B59F5932-F180-047B-290E-DD2E4ECF0DB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12737" y="12041728"/>
            <a:ext cx="6753239" cy="4929866"/>
          </a:xfrm>
          <a:prstGeom prst="rect">
            <a:avLst/>
          </a:prstGeom>
          <a:noFill/>
          <a:extLst>
            <a:ext uri="{909E8E84-426E-40DD-AFC4-6F175D3DCCD1}">
              <a14:hiddenFill xmlns:a14="http://schemas.microsoft.com/office/drawing/2010/main">
                <a:solidFill>
                  <a:srgbClr val="FFFFFF"/>
                </a:solidFill>
              </a14:hiddenFill>
            </a:ext>
          </a:extLst>
        </p:spPr>
      </p:pic>
      <p:grpSp>
        <p:nvGrpSpPr>
          <p:cNvPr id="59" name="Group 58">
            <a:extLst>
              <a:ext uri="{FF2B5EF4-FFF2-40B4-BE49-F238E27FC236}">
                <a16:creationId xmlns:a16="http://schemas.microsoft.com/office/drawing/2014/main" id="{947F050B-1A3D-968B-53E7-208A7FE69C8E}"/>
              </a:ext>
            </a:extLst>
          </p:cNvPr>
          <p:cNvGrpSpPr/>
          <p:nvPr/>
        </p:nvGrpSpPr>
        <p:grpSpPr>
          <a:xfrm>
            <a:off x="15875817" y="19460724"/>
            <a:ext cx="12124675" cy="5923283"/>
            <a:chOff x="15962082" y="18977645"/>
            <a:chExt cx="12124675" cy="6044052"/>
          </a:xfrm>
        </p:grpSpPr>
        <p:pic>
          <p:nvPicPr>
            <p:cNvPr id="48" name="Picture 47" descr="A graph with numbers and a bar&#10;&#10;Description automatically generated">
              <a:extLst>
                <a:ext uri="{FF2B5EF4-FFF2-40B4-BE49-F238E27FC236}">
                  <a16:creationId xmlns:a16="http://schemas.microsoft.com/office/drawing/2014/main" id="{56004034-ED4A-09EC-AF40-05C39CE81C44}"/>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5962082" y="19025795"/>
              <a:ext cx="5947752" cy="5947752"/>
            </a:xfrm>
            <a:prstGeom prst="rect">
              <a:avLst/>
            </a:prstGeom>
          </p:spPr>
        </p:pic>
        <p:pic>
          <p:nvPicPr>
            <p:cNvPr id="54" name="Picture 53" descr="A graph of blue rectangular bars&#10;&#10;Description automatically generated with medium confidence">
              <a:extLst>
                <a:ext uri="{FF2B5EF4-FFF2-40B4-BE49-F238E27FC236}">
                  <a16:creationId xmlns:a16="http://schemas.microsoft.com/office/drawing/2014/main" id="{4D5A154B-0F70-38C6-8017-F37E14BFE379}"/>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2042705" y="18977645"/>
              <a:ext cx="6044052" cy="6044052"/>
            </a:xfrm>
            <a:prstGeom prst="rect">
              <a:avLst/>
            </a:prstGeom>
          </p:spPr>
        </p:pic>
      </p:grpSp>
      <p:sp>
        <p:nvSpPr>
          <p:cNvPr id="449" name="TextBox 448">
            <a:extLst>
              <a:ext uri="{FF2B5EF4-FFF2-40B4-BE49-F238E27FC236}">
                <a16:creationId xmlns:a16="http://schemas.microsoft.com/office/drawing/2014/main" id="{301D9B5A-7E96-18C6-3DBC-91153CB9C67E}"/>
              </a:ext>
            </a:extLst>
          </p:cNvPr>
          <p:cNvSpPr txBox="1"/>
          <p:nvPr/>
        </p:nvSpPr>
        <p:spPr>
          <a:xfrm>
            <a:off x="11908361" y="11706787"/>
            <a:ext cx="2738213" cy="5079083"/>
          </a:xfrm>
          <a:prstGeom prst="rect">
            <a:avLst/>
          </a:prstGeom>
          <a:noFill/>
        </p:spPr>
        <p:txBody>
          <a:bodyPr wrap="square">
            <a:spAutoFit/>
          </a:bodyPr>
          <a:lstStyle/>
          <a:p>
            <a:pPr>
              <a:lnSpc>
                <a:spcPct val="107000"/>
              </a:lnSpc>
              <a:spcAft>
                <a:spcPts val="802"/>
              </a:spcAft>
            </a:pPr>
            <a:r>
              <a:rPr lang="en-US" sz="1600" b="1" kern="100">
                <a:solidFill>
                  <a:srgbClr val="000000"/>
                </a:solidFill>
                <a:latin typeface="Arial" panose="020B0604020202020204" pitchFamily="34" charset="0"/>
                <a:ea typeface="DengXian" panose="02010600030101010101" pitchFamily="2" charset="-122"/>
                <a:cs typeface="Arial" panose="020B0604020202020204" pitchFamily="34" charset="0"/>
              </a:rPr>
              <a:t>Figure 1. (A</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 </a:t>
            </a:r>
            <a:r>
              <a:rPr lang="en-US" sz="1600" b="1" kern="100">
                <a:solidFill>
                  <a:srgbClr val="000000"/>
                </a:solidFill>
                <a:latin typeface="Arial" panose="020B0604020202020204" pitchFamily="34" charset="0"/>
                <a:ea typeface="DengXian" panose="02010600030101010101" pitchFamily="2" charset="-122"/>
                <a:cs typeface="Arial" panose="020B0604020202020204" pitchFamily="34" charset="0"/>
              </a:rPr>
              <a:t>The gut-brain axis</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 The gut-brain axis is a complex, bidirectional network that links the brain and gut using the </a:t>
            </a:r>
            <a:r>
              <a:rPr lang="en-US" sz="1600" kern="100" err="1">
                <a:solidFill>
                  <a:srgbClr val="000000"/>
                </a:solidFill>
                <a:latin typeface="Arial" panose="020B0604020202020204" pitchFamily="34" charset="0"/>
                <a:ea typeface="DengXian" panose="02010600030101010101" pitchFamily="2" charset="-122"/>
                <a:cs typeface="Arial" panose="020B0604020202020204" pitchFamily="34" charset="0"/>
              </a:rPr>
              <a:t>vagus</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 nerve, the immune system,  endocrine system and circulatory systems</a:t>
            </a:r>
            <a:r>
              <a:rPr lang="en-US" sz="1600" b="1" kern="100">
                <a:solidFill>
                  <a:srgbClr val="000000"/>
                </a:solidFill>
                <a:latin typeface="Arial" panose="020B0604020202020204" pitchFamily="34" charset="0"/>
                <a:ea typeface="DengXian" panose="02010600030101010101" pitchFamily="2" charset="-122"/>
                <a:cs typeface="Arial" panose="020B0604020202020204" pitchFamily="34" charset="0"/>
              </a:rPr>
              <a:t> (B) Cellular cross-talk in AD. </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AD</a:t>
            </a:r>
            <a:r>
              <a:rPr lang="en-US" sz="1600" b="1" kern="100">
                <a:solidFill>
                  <a:srgbClr val="000000"/>
                </a:solidFill>
                <a:latin typeface="Arial" panose="020B0604020202020204" pitchFamily="34" charset="0"/>
                <a:ea typeface="DengXian" panose="02010600030101010101" pitchFamily="2" charset="-122"/>
                <a:cs typeface="Arial" panose="020B0604020202020204" pitchFamily="34" charset="0"/>
              </a:rPr>
              <a:t> </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dysfunction  results primarily from damages to neurons but also involves disruption in communication with glial cells that provide nutrition and protection to neurons, and endothelial cells that allow toxic substances to cross the blood brain barrier. </a:t>
            </a:r>
          </a:p>
        </p:txBody>
      </p:sp>
      <p:sp>
        <p:nvSpPr>
          <p:cNvPr id="450" name="TextBox 449">
            <a:extLst>
              <a:ext uri="{FF2B5EF4-FFF2-40B4-BE49-F238E27FC236}">
                <a16:creationId xmlns:a16="http://schemas.microsoft.com/office/drawing/2014/main" id="{FE6F7BB9-73D1-F906-2104-B76B8D3CA596}"/>
              </a:ext>
            </a:extLst>
          </p:cNvPr>
          <p:cNvSpPr txBox="1"/>
          <p:nvPr/>
        </p:nvSpPr>
        <p:spPr>
          <a:xfrm>
            <a:off x="946165" y="11699334"/>
            <a:ext cx="906998" cy="387209"/>
          </a:xfrm>
          <a:prstGeom prst="rect">
            <a:avLst/>
          </a:prstGeom>
          <a:noFill/>
          <a:ln>
            <a:noFill/>
          </a:ln>
        </p:spPr>
        <p:txBody>
          <a:bodyPr wrap="square" lIns="78341" tIns="39173" rIns="78341" bIns="39173" rtlCol="0" anchor="ctr" anchorCtr="1">
            <a:spAutoFit/>
          </a:bodyPr>
          <a:lstStyle/>
          <a:p>
            <a:r>
              <a:rPr lang="en-US" sz="2002" b="1">
                <a:latin typeface="Arial" panose="020B0604020202020204" pitchFamily="34" charset="0"/>
                <a:cs typeface="Arial" panose="020B0604020202020204" pitchFamily="34" charset="0"/>
              </a:rPr>
              <a:t>A.</a:t>
            </a:r>
          </a:p>
        </p:txBody>
      </p:sp>
      <p:sp>
        <p:nvSpPr>
          <p:cNvPr id="451" name="TextBox 450">
            <a:extLst>
              <a:ext uri="{FF2B5EF4-FFF2-40B4-BE49-F238E27FC236}">
                <a16:creationId xmlns:a16="http://schemas.microsoft.com/office/drawing/2014/main" id="{E5E962F5-A3D2-3189-EBA2-7149CFA8BD13}"/>
              </a:ext>
            </a:extLst>
          </p:cNvPr>
          <p:cNvSpPr txBox="1"/>
          <p:nvPr/>
        </p:nvSpPr>
        <p:spPr>
          <a:xfrm>
            <a:off x="3981082" y="11701152"/>
            <a:ext cx="906998" cy="387209"/>
          </a:xfrm>
          <a:prstGeom prst="rect">
            <a:avLst/>
          </a:prstGeom>
          <a:noFill/>
          <a:ln>
            <a:noFill/>
          </a:ln>
        </p:spPr>
        <p:txBody>
          <a:bodyPr wrap="square" lIns="78341" tIns="39173" rIns="78341" bIns="39173" rtlCol="0" anchor="ctr" anchorCtr="1">
            <a:spAutoFit/>
          </a:bodyPr>
          <a:lstStyle/>
          <a:p>
            <a:r>
              <a:rPr lang="en-US" sz="2002" b="1">
                <a:latin typeface="Arial" panose="020B0604020202020204" pitchFamily="34" charset="0"/>
                <a:cs typeface="Arial" panose="020B0604020202020204" pitchFamily="34" charset="0"/>
              </a:rPr>
              <a:t>B.</a:t>
            </a:r>
          </a:p>
        </p:txBody>
      </p:sp>
      <p:sp>
        <p:nvSpPr>
          <p:cNvPr id="7" name="TextBox 6">
            <a:extLst>
              <a:ext uri="{FF2B5EF4-FFF2-40B4-BE49-F238E27FC236}">
                <a16:creationId xmlns:a16="http://schemas.microsoft.com/office/drawing/2014/main" id="{0ED20126-D621-6258-AA2B-9689F6758C29}"/>
              </a:ext>
            </a:extLst>
          </p:cNvPr>
          <p:cNvSpPr txBox="1"/>
          <p:nvPr/>
        </p:nvSpPr>
        <p:spPr>
          <a:xfrm>
            <a:off x="29251427" y="20927646"/>
            <a:ext cx="13361650" cy="2031325"/>
          </a:xfrm>
          <a:prstGeom prst="rect">
            <a:avLst/>
          </a:prstGeom>
          <a:noFill/>
        </p:spPr>
        <p:txBody>
          <a:bodyPr wrap="square" rtlCol="0">
            <a:spAutoFit/>
          </a:bodyPr>
          <a:lstStyle/>
          <a:p>
            <a:r>
              <a:rPr lang="en-US" sz="1800"/>
              <a:t>The greatest limitation to this project was the use of multiple separate datasets. Analyses of 16s microbiome data was done independently and then compared to independently analyzed hippocampal bulk </a:t>
            </a:r>
            <a:r>
              <a:rPr lang="en-US" sz="1800" err="1"/>
              <a:t>RNAseq</a:t>
            </a:r>
            <a:r>
              <a:rPr lang="en-US" sz="1800"/>
              <a:t> data.  Given that the data sources are independent and not subject matched, we are only able to make weak, cursory connections between the observations we made in 16s microbiota and brain activity.</a:t>
            </a:r>
          </a:p>
          <a:p>
            <a:r>
              <a:rPr lang="en-US" sz="1800"/>
              <a:t>Moreover, as with any gut microbiome study there are numerous confounding factors that need to be controlled. Our datasets accounted for age and sex; however, they did not filter for certain comorbidities like Cardiovascular disease.</a:t>
            </a:r>
          </a:p>
          <a:p>
            <a:r>
              <a:rPr lang="en-US" sz="1800"/>
              <a:t>Finally, our hippocampal data set did not establish baseline levels of cognition for control and AD  patients. This would be a useful benchmark to have for future cases as to not mistake natural variation for AD pathology. </a:t>
            </a:r>
          </a:p>
        </p:txBody>
      </p:sp>
      <p:grpSp>
        <p:nvGrpSpPr>
          <p:cNvPr id="42" name="Group 41">
            <a:extLst>
              <a:ext uri="{FF2B5EF4-FFF2-40B4-BE49-F238E27FC236}">
                <a16:creationId xmlns:a16="http://schemas.microsoft.com/office/drawing/2014/main" id="{B95CC91F-F0EC-3AD4-563B-EB5D601A298F}"/>
              </a:ext>
            </a:extLst>
          </p:cNvPr>
          <p:cNvGrpSpPr/>
          <p:nvPr/>
        </p:nvGrpSpPr>
        <p:grpSpPr>
          <a:xfrm>
            <a:off x="23032292" y="7995895"/>
            <a:ext cx="5280955" cy="4598885"/>
            <a:chOff x="22241089" y="8363804"/>
            <a:chExt cx="5280955" cy="4598885"/>
          </a:xfrm>
        </p:grpSpPr>
        <p:pic>
          <p:nvPicPr>
            <p:cNvPr id="18" name="Picture 17" descr="A graph of a graph showing a graph of a graph&#10;&#10;Description automatically generated with medium confidence">
              <a:extLst>
                <a:ext uri="{FF2B5EF4-FFF2-40B4-BE49-F238E27FC236}">
                  <a16:creationId xmlns:a16="http://schemas.microsoft.com/office/drawing/2014/main" id="{5BBB3DE8-69D0-5EE9-ED46-E0581EAB8E15}"/>
                </a:ext>
              </a:extLst>
            </p:cNvPr>
            <p:cNvPicPr>
              <a:picLocks noChangeAspect="1"/>
            </p:cNvPicPr>
            <p:nvPr/>
          </p:nvPicPr>
          <p:blipFill rotWithShape="1">
            <a:blip r:embed="rId18">
              <a:extLst>
                <a:ext uri="{28A0092B-C50C-407E-A947-70E740481C1C}">
                  <a14:useLocalDpi xmlns:a14="http://schemas.microsoft.com/office/drawing/2010/main" val="0"/>
                </a:ext>
              </a:extLst>
            </a:blip>
            <a:srcRect t="6848" r="23594"/>
            <a:stretch/>
          </p:blipFill>
          <p:spPr>
            <a:xfrm>
              <a:off x="22241089" y="8363804"/>
              <a:ext cx="5280955" cy="4598885"/>
            </a:xfrm>
            <a:prstGeom prst="rect">
              <a:avLst/>
            </a:prstGeom>
          </p:spPr>
        </p:pic>
        <p:pic>
          <p:nvPicPr>
            <p:cNvPr id="38" name="Picture 37" descr="A graph of a graph showing a graph of a graph&#10;&#10;Description automatically generated with medium confidence">
              <a:extLst>
                <a:ext uri="{FF2B5EF4-FFF2-40B4-BE49-F238E27FC236}">
                  <a16:creationId xmlns:a16="http://schemas.microsoft.com/office/drawing/2014/main" id="{1132CDF0-E7A8-3F65-A856-05EC28143FC9}"/>
                </a:ext>
              </a:extLst>
            </p:cNvPr>
            <p:cNvPicPr>
              <a:picLocks noChangeAspect="1"/>
            </p:cNvPicPr>
            <p:nvPr/>
          </p:nvPicPr>
          <p:blipFill>
            <a:blip r:embed="rId18">
              <a:extLst>
                <a:ext uri="{28A0092B-C50C-407E-A947-70E740481C1C}">
                  <a14:useLocalDpi xmlns:a14="http://schemas.microsoft.com/office/drawing/2010/main" val="0"/>
                </a:ext>
              </a:extLst>
            </a:blip>
            <a:srcRect l="76978" t="44327" r="2370" b="41112"/>
            <a:stretch>
              <a:fillRect/>
            </a:stretch>
          </p:blipFill>
          <p:spPr>
            <a:xfrm>
              <a:off x="25696985" y="8466767"/>
              <a:ext cx="1427481" cy="718898"/>
            </a:xfrm>
            <a:prstGeom prst="rect">
              <a:avLst/>
            </a:prstGeom>
          </p:spPr>
        </p:pic>
      </p:grpSp>
      <p:pic>
        <p:nvPicPr>
          <p:cNvPr id="34" name="Picture 33">
            <a:extLst>
              <a:ext uri="{FF2B5EF4-FFF2-40B4-BE49-F238E27FC236}">
                <a16:creationId xmlns:a16="http://schemas.microsoft.com/office/drawing/2014/main" id="{4E79692A-B5D4-D595-9ACE-D8A0C0CD306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9977455" y="301284"/>
            <a:ext cx="3914611" cy="3599971"/>
          </a:xfrm>
          <a:prstGeom prst="rect">
            <a:avLst/>
          </a:prstGeom>
        </p:spPr>
      </p:pic>
      <p:pic>
        <p:nvPicPr>
          <p:cNvPr id="454" name="Picture 2" descr="Rochester Yellowjackets - Wikipedia">
            <a:extLst>
              <a:ext uri="{FF2B5EF4-FFF2-40B4-BE49-F238E27FC236}">
                <a16:creationId xmlns:a16="http://schemas.microsoft.com/office/drawing/2014/main" id="{46855B18-82DB-54B9-102B-6920DE0991D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8501066" y="3037311"/>
            <a:ext cx="2010866" cy="263021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8E11C50-8CA3-E47A-995F-55119F49CA53}"/>
              </a:ext>
            </a:extLst>
          </p:cNvPr>
          <p:cNvSpPr txBox="1"/>
          <p:nvPr/>
        </p:nvSpPr>
        <p:spPr>
          <a:xfrm>
            <a:off x="16048378" y="29556658"/>
            <a:ext cx="5725571" cy="3046988"/>
          </a:xfrm>
          <a:prstGeom prst="rect">
            <a:avLst/>
          </a:prstGeom>
          <a:noFill/>
        </p:spPr>
        <p:txBody>
          <a:bodyPr wrap="square" rtlCol="0">
            <a:spAutoFit/>
          </a:bodyPr>
          <a:lstStyle/>
          <a:p>
            <a:r>
              <a:rPr lang="en-US" sz="1600" b="1">
                <a:latin typeface="Arial" panose="020B0604020202020204" pitchFamily="34" charset="0"/>
                <a:cs typeface="Arial" panose="020B0604020202020204" pitchFamily="34" charset="0"/>
              </a:rPr>
              <a:t>Figure 3.  Differential expressed genes </a:t>
            </a:r>
            <a:r>
              <a:rPr lang="en-US" sz="1600" b="1" kern="100">
                <a:solidFill>
                  <a:srgbClr val="000000"/>
                </a:solidFill>
                <a:latin typeface="Arial" panose="020B0604020202020204" pitchFamily="34" charset="0"/>
                <a:ea typeface="DengXian" panose="02010600030101010101" pitchFamily="2" charset="-122"/>
                <a:cs typeface="Arial" panose="020B0604020202020204" pitchFamily="34" charset="0"/>
              </a:rPr>
              <a:t>for </a:t>
            </a:r>
            <a:r>
              <a:rPr lang="en-US" sz="1600" b="1" kern="100" err="1">
                <a:solidFill>
                  <a:srgbClr val="000000"/>
                </a:solidFill>
                <a:latin typeface="Arial" panose="020B0604020202020204" pitchFamily="34" charset="0"/>
                <a:ea typeface="DengXian" panose="02010600030101010101" pitchFamily="2" charset="-122"/>
                <a:cs typeface="Arial" panose="020B0604020202020204" pitchFamily="34" charset="0"/>
              </a:rPr>
              <a:t>Maffioli</a:t>
            </a:r>
            <a:r>
              <a:rPr lang="en-US" sz="1600" b="1" kern="100">
                <a:solidFill>
                  <a:srgbClr val="000000"/>
                </a:solidFill>
                <a:latin typeface="Arial" panose="020B0604020202020204" pitchFamily="34" charset="0"/>
                <a:ea typeface="DengXian" panose="02010600030101010101" pitchFamily="2" charset="-122"/>
                <a:cs typeface="Arial" panose="020B0604020202020204" pitchFamily="34" charset="0"/>
              </a:rPr>
              <a:t> et al bulk RNA-seq data. </a:t>
            </a:r>
            <a:r>
              <a:rPr lang="en-US" sz="1600" b="1">
                <a:latin typeface="Arial" panose="020B0604020202020204" pitchFamily="34" charset="0"/>
                <a:cs typeface="Arial" panose="020B0604020202020204" pitchFamily="34" charset="0"/>
              </a:rPr>
              <a:t>(A) Upregulated genes in AD. </a:t>
            </a:r>
            <a:r>
              <a:rPr lang="en-US" sz="1600">
                <a:latin typeface="Arial" panose="020B0604020202020204" pitchFamily="34" charset="0"/>
                <a:cs typeface="Arial" panose="020B0604020202020204" pitchFamily="34" charset="0"/>
              </a:rPr>
              <a:t>Top ten </a:t>
            </a:r>
            <a:r>
              <a:rPr lang="en-US" sz="1600" u="sng">
                <a:latin typeface="Arial" panose="020B0604020202020204" pitchFamily="34" charset="0"/>
                <a:cs typeface="Arial" panose="020B0604020202020204" pitchFamily="34" charset="0"/>
              </a:rPr>
              <a:t>upregulated</a:t>
            </a:r>
            <a:r>
              <a:rPr lang="en-US" sz="1600">
                <a:latin typeface="Arial" panose="020B0604020202020204" pitchFamily="34" charset="0"/>
                <a:cs typeface="Arial" panose="020B0604020202020204" pitchFamily="34" charset="0"/>
              </a:rPr>
              <a:t> genes between AD and control patients. Fold change values are shown on a log₂ scale. </a:t>
            </a:r>
            <a:r>
              <a:rPr lang="en-US" sz="1600" b="1">
                <a:latin typeface="Arial" panose="020B0604020202020204" pitchFamily="34" charset="0"/>
                <a:cs typeface="Arial" panose="020B0604020202020204" pitchFamily="34" charset="0"/>
              </a:rPr>
              <a:t>(B) Downregulated genes in AD. </a:t>
            </a:r>
            <a:r>
              <a:rPr lang="en-US" sz="1600">
                <a:latin typeface="Arial" panose="020B0604020202020204" pitchFamily="34" charset="0"/>
                <a:cs typeface="Arial" panose="020B0604020202020204" pitchFamily="34" charset="0"/>
              </a:rPr>
              <a:t>Top ten </a:t>
            </a:r>
            <a:r>
              <a:rPr lang="en-US" sz="1600" u="sng">
                <a:latin typeface="Arial" panose="020B0604020202020204" pitchFamily="34" charset="0"/>
                <a:cs typeface="Arial" panose="020B0604020202020204" pitchFamily="34" charset="0"/>
              </a:rPr>
              <a:t>downregulated</a:t>
            </a:r>
            <a:r>
              <a:rPr lang="en-US" sz="1600">
                <a:latin typeface="Arial" panose="020B0604020202020204" pitchFamily="34" charset="0"/>
                <a:cs typeface="Arial" panose="020B0604020202020204" pitchFamily="34" charset="0"/>
              </a:rPr>
              <a:t> genes between AD and control patients. Fold change values are shown on a log₂ scale. </a:t>
            </a:r>
            <a:r>
              <a:rPr lang="en-US" sz="1600" b="1" kern="100">
                <a:solidFill>
                  <a:srgbClr val="000000"/>
                </a:solidFill>
                <a:latin typeface="Arial" panose="020B0604020202020204" pitchFamily="34" charset="0"/>
                <a:ea typeface="DengXian" panose="02010600030101010101" pitchFamily="2" charset="-122"/>
                <a:cs typeface="Arial" panose="020B0604020202020204" pitchFamily="34" charset="0"/>
              </a:rPr>
              <a:t>(C) KEGG Pathways. </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Top ten KEGG Pathways by p-value.  </a:t>
            </a:r>
            <a:r>
              <a:rPr lang="en-US" sz="1600" b="1" kern="100">
                <a:solidFill>
                  <a:srgbClr val="000000"/>
                </a:solidFill>
                <a:latin typeface="Arial" panose="020B0604020202020204" pitchFamily="34" charset="0"/>
                <a:ea typeface="DengXian" panose="02010600030101010101" pitchFamily="2" charset="-122"/>
                <a:cs typeface="Arial" panose="020B0604020202020204" pitchFamily="34" charset="0"/>
              </a:rPr>
              <a:t>(D) Downregulated GO terms. </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Top ten Downregulated GO terms in AD. </a:t>
            </a:r>
            <a:r>
              <a:rPr lang="en-US" sz="1600" b="1" kern="100">
                <a:solidFill>
                  <a:srgbClr val="000000"/>
                </a:solidFill>
                <a:latin typeface="Arial" panose="020B0604020202020204" pitchFamily="34" charset="0"/>
                <a:ea typeface="DengXian" panose="02010600030101010101" pitchFamily="2" charset="-122"/>
                <a:cs typeface="Arial" panose="020B0604020202020204" pitchFamily="34" charset="0"/>
              </a:rPr>
              <a:t> (E) Upregulated GO terms. </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Top ten Upregulated GO terms in AD. </a:t>
            </a:r>
          </a:p>
          <a:p>
            <a:endParaRPr lang="en-US" sz="1600"/>
          </a:p>
          <a:p>
            <a:endParaRPr lang="en-US" sz="1600"/>
          </a:p>
        </p:txBody>
      </p:sp>
      <p:sp>
        <p:nvSpPr>
          <p:cNvPr id="456" name="TextBox 455">
            <a:extLst>
              <a:ext uri="{FF2B5EF4-FFF2-40B4-BE49-F238E27FC236}">
                <a16:creationId xmlns:a16="http://schemas.microsoft.com/office/drawing/2014/main" id="{655134A6-713D-7FB9-4630-F0223AC32830}"/>
              </a:ext>
            </a:extLst>
          </p:cNvPr>
          <p:cNvSpPr txBox="1"/>
          <p:nvPr/>
        </p:nvSpPr>
        <p:spPr>
          <a:xfrm>
            <a:off x="15867698" y="7983190"/>
            <a:ext cx="906998" cy="387209"/>
          </a:xfrm>
          <a:prstGeom prst="rect">
            <a:avLst/>
          </a:prstGeom>
          <a:noFill/>
          <a:ln>
            <a:noFill/>
          </a:ln>
        </p:spPr>
        <p:txBody>
          <a:bodyPr wrap="square" lIns="78341" tIns="39173" rIns="78341" bIns="39173" rtlCol="0" anchor="ctr" anchorCtr="1">
            <a:spAutoFit/>
          </a:bodyPr>
          <a:lstStyle/>
          <a:p>
            <a:r>
              <a:rPr lang="en-US" sz="2002" b="1">
                <a:latin typeface="Arial" panose="020B0604020202020204" pitchFamily="34" charset="0"/>
                <a:cs typeface="Arial" panose="020B0604020202020204" pitchFamily="34" charset="0"/>
              </a:rPr>
              <a:t>C.</a:t>
            </a:r>
          </a:p>
        </p:txBody>
      </p:sp>
      <p:sp>
        <p:nvSpPr>
          <p:cNvPr id="457" name="TextBox 456">
            <a:extLst>
              <a:ext uri="{FF2B5EF4-FFF2-40B4-BE49-F238E27FC236}">
                <a16:creationId xmlns:a16="http://schemas.microsoft.com/office/drawing/2014/main" id="{207376DD-1319-58C5-5703-01277E54881B}"/>
              </a:ext>
            </a:extLst>
          </p:cNvPr>
          <p:cNvSpPr txBox="1"/>
          <p:nvPr/>
        </p:nvSpPr>
        <p:spPr>
          <a:xfrm>
            <a:off x="1437429" y="25522702"/>
            <a:ext cx="906998" cy="387209"/>
          </a:xfrm>
          <a:prstGeom prst="rect">
            <a:avLst/>
          </a:prstGeom>
          <a:noFill/>
          <a:ln>
            <a:noFill/>
          </a:ln>
        </p:spPr>
        <p:txBody>
          <a:bodyPr wrap="square" lIns="78341" tIns="39173" rIns="78341" bIns="39173" rtlCol="0" anchor="ctr" anchorCtr="1">
            <a:spAutoFit/>
          </a:bodyPr>
          <a:lstStyle/>
          <a:p>
            <a:r>
              <a:rPr lang="en-US" sz="2002" b="1">
                <a:latin typeface="Arial" panose="020B0604020202020204" pitchFamily="34" charset="0"/>
                <a:cs typeface="Arial" panose="020B0604020202020204" pitchFamily="34" charset="0"/>
              </a:rPr>
              <a:t>A.</a:t>
            </a:r>
          </a:p>
        </p:txBody>
      </p:sp>
      <p:sp>
        <p:nvSpPr>
          <p:cNvPr id="458" name="TextBox 457">
            <a:extLst>
              <a:ext uri="{FF2B5EF4-FFF2-40B4-BE49-F238E27FC236}">
                <a16:creationId xmlns:a16="http://schemas.microsoft.com/office/drawing/2014/main" id="{401D3996-5AF4-1EF3-432E-2E32E3F13CAC}"/>
              </a:ext>
            </a:extLst>
          </p:cNvPr>
          <p:cNvSpPr txBox="1"/>
          <p:nvPr/>
        </p:nvSpPr>
        <p:spPr>
          <a:xfrm>
            <a:off x="6610725" y="25523938"/>
            <a:ext cx="906998" cy="387209"/>
          </a:xfrm>
          <a:prstGeom prst="rect">
            <a:avLst/>
          </a:prstGeom>
          <a:noFill/>
          <a:ln>
            <a:noFill/>
          </a:ln>
        </p:spPr>
        <p:txBody>
          <a:bodyPr wrap="square" lIns="78341" tIns="39173" rIns="78341" bIns="39173" rtlCol="0" anchor="ctr" anchorCtr="1">
            <a:spAutoFit/>
          </a:bodyPr>
          <a:lstStyle/>
          <a:p>
            <a:r>
              <a:rPr lang="en-US" sz="2002" b="1">
                <a:latin typeface="Arial" panose="020B0604020202020204" pitchFamily="34" charset="0"/>
                <a:cs typeface="Arial" panose="020B0604020202020204" pitchFamily="34" charset="0"/>
              </a:rPr>
              <a:t>B.</a:t>
            </a:r>
          </a:p>
        </p:txBody>
      </p:sp>
      <p:sp>
        <p:nvSpPr>
          <p:cNvPr id="459" name="TextBox 458">
            <a:extLst>
              <a:ext uri="{FF2B5EF4-FFF2-40B4-BE49-F238E27FC236}">
                <a16:creationId xmlns:a16="http://schemas.microsoft.com/office/drawing/2014/main" id="{A69C85D1-E89A-6D03-DF18-7E772C7B0720}"/>
              </a:ext>
            </a:extLst>
          </p:cNvPr>
          <p:cNvSpPr txBox="1"/>
          <p:nvPr/>
        </p:nvSpPr>
        <p:spPr>
          <a:xfrm>
            <a:off x="22299346" y="19239940"/>
            <a:ext cx="906998" cy="387209"/>
          </a:xfrm>
          <a:prstGeom prst="rect">
            <a:avLst/>
          </a:prstGeom>
          <a:noFill/>
          <a:ln>
            <a:noFill/>
          </a:ln>
        </p:spPr>
        <p:txBody>
          <a:bodyPr wrap="square" lIns="78341" tIns="39173" rIns="78341" bIns="39173" rtlCol="0" anchor="ctr" anchorCtr="1">
            <a:spAutoFit/>
          </a:bodyPr>
          <a:lstStyle/>
          <a:p>
            <a:r>
              <a:rPr lang="en-US" sz="2002" b="1">
                <a:latin typeface="Arial" panose="020B0604020202020204" pitchFamily="34" charset="0"/>
                <a:cs typeface="Arial" panose="020B0604020202020204" pitchFamily="34" charset="0"/>
              </a:rPr>
              <a:t>B.</a:t>
            </a:r>
          </a:p>
        </p:txBody>
      </p:sp>
      <p:sp>
        <p:nvSpPr>
          <p:cNvPr id="461" name="TextBox 460">
            <a:extLst>
              <a:ext uri="{FF2B5EF4-FFF2-40B4-BE49-F238E27FC236}">
                <a16:creationId xmlns:a16="http://schemas.microsoft.com/office/drawing/2014/main" id="{80473F39-EC10-F803-3B4C-DDCE5E8217AA}"/>
              </a:ext>
            </a:extLst>
          </p:cNvPr>
          <p:cNvSpPr txBox="1"/>
          <p:nvPr/>
        </p:nvSpPr>
        <p:spPr>
          <a:xfrm>
            <a:off x="15918581" y="17563250"/>
            <a:ext cx="12345462" cy="1653979"/>
          </a:xfrm>
          <a:prstGeom prst="rect">
            <a:avLst/>
          </a:prstGeom>
          <a:noFill/>
        </p:spPr>
        <p:txBody>
          <a:bodyPr wrap="square" rtlCol="0">
            <a:spAutoFit/>
          </a:bodyPr>
          <a:lstStyle/>
          <a:p>
            <a:pPr algn="just">
              <a:lnSpc>
                <a:spcPct val="107000"/>
              </a:lnSpc>
              <a:spcAft>
                <a:spcPts val="802"/>
              </a:spcAft>
            </a:pPr>
            <a:r>
              <a:rPr lang="en-US" sz="1600" b="1" kern="100">
                <a:solidFill>
                  <a:srgbClr val="000000"/>
                </a:solidFill>
                <a:latin typeface="Arial" panose="020B0604020202020204" pitchFamily="34" charset="0"/>
                <a:ea typeface="DengXian" panose="02010600030101010101" pitchFamily="2" charset="-122"/>
                <a:cs typeface="Arial" panose="020B0604020202020204" pitchFamily="34" charset="0"/>
              </a:rPr>
              <a:t>Figure 2. Beta Diversity. (C) </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Beta diversity was assessed using </a:t>
            </a:r>
            <a:r>
              <a:rPr lang="en-US" sz="1600" kern="100" err="1">
                <a:solidFill>
                  <a:srgbClr val="000000"/>
                </a:solidFill>
                <a:latin typeface="Arial" panose="020B0604020202020204" pitchFamily="34" charset="0"/>
                <a:ea typeface="DengXian" panose="02010600030101010101" pitchFamily="2" charset="-122"/>
                <a:cs typeface="Arial" panose="020B0604020202020204" pitchFamily="34" charset="0"/>
              </a:rPr>
              <a:t>PCoA</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 (Principal Coordinate Analysis) to show Bray-Curtis dissimilarity represented through two-dimensional clustering patterns between AD and control  samples. </a:t>
            </a:r>
            <a:r>
              <a:rPr lang="en-US" sz="1600" b="1" kern="100">
                <a:solidFill>
                  <a:srgbClr val="000000"/>
                </a:solidFill>
                <a:latin typeface="Arial" panose="020B0604020202020204" pitchFamily="34" charset="0"/>
                <a:ea typeface="DengXian" panose="02010600030101010101" pitchFamily="2" charset="-122"/>
                <a:cs typeface="Arial" panose="020B0604020202020204" pitchFamily="34" charset="0"/>
              </a:rPr>
              <a:t>(D) Volcano plot of increased and decreased genera in AD. </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Volcano plots showing differential abundance across genera in AD compared to control with points representing direction of fold change (positive, negative, or neutral) based on placement left, right or on the vertical dotted line for all significantly different genera (represented by points above the horizontal line). </a:t>
            </a:r>
            <a:r>
              <a:rPr lang="en-US" sz="1600" b="1" kern="100">
                <a:solidFill>
                  <a:srgbClr val="000000"/>
                </a:solidFill>
                <a:latin typeface="Arial" panose="020B0604020202020204" pitchFamily="34" charset="0"/>
                <a:ea typeface="DengXian" panose="02010600030101010101" pitchFamily="2" charset="-122"/>
                <a:cs typeface="Arial" panose="020B0604020202020204" pitchFamily="34" charset="0"/>
              </a:rPr>
              <a:t>(E) Significantly different genera in AD. </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Genera</a:t>
            </a:r>
            <a:r>
              <a:rPr lang="en-US" sz="1600" b="1" kern="100">
                <a:solidFill>
                  <a:srgbClr val="000000"/>
                </a:solidFill>
                <a:latin typeface="Arial" panose="020B0604020202020204" pitchFamily="34" charset="0"/>
                <a:ea typeface="DengXian" panose="02010600030101010101" pitchFamily="2" charset="-122"/>
                <a:cs typeface="Arial" panose="020B0604020202020204" pitchFamily="34" charset="0"/>
              </a:rPr>
              <a:t> </a:t>
            </a:r>
            <a:r>
              <a:rPr lang="en-US" sz="1600" kern="100">
                <a:solidFill>
                  <a:srgbClr val="000000"/>
                </a:solidFill>
                <a:latin typeface="Arial" panose="020B0604020202020204" pitchFamily="34" charset="0"/>
                <a:ea typeface="DengXian" panose="02010600030101010101" pitchFamily="2" charset="-122"/>
                <a:cs typeface="Arial" panose="020B0604020202020204" pitchFamily="34" charset="0"/>
              </a:rPr>
              <a:t>significantly decreased or increased in AD by relative abundance (log10) as determined by DESeq2.</a:t>
            </a:r>
            <a:endParaRPr lang="en-US" sz="1600" b="1" kern="100">
              <a:latin typeface="Arial" panose="020B0604020202020204" pitchFamily="34" charset="0"/>
              <a:ea typeface="DengXian" panose="02010600030101010101" pitchFamily="2" charset="-122"/>
              <a:cs typeface="Arial" panose="020B0604020202020204" pitchFamily="34" charset="0"/>
            </a:endParaRPr>
          </a:p>
        </p:txBody>
      </p:sp>
      <p:grpSp>
        <p:nvGrpSpPr>
          <p:cNvPr id="12" name="Group 11">
            <a:extLst>
              <a:ext uri="{FF2B5EF4-FFF2-40B4-BE49-F238E27FC236}">
                <a16:creationId xmlns:a16="http://schemas.microsoft.com/office/drawing/2014/main" id="{C2249406-DCB1-EBBC-795C-8FC2DE2343B9}"/>
              </a:ext>
            </a:extLst>
          </p:cNvPr>
          <p:cNvGrpSpPr/>
          <p:nvPr/>
        </p:nvGrpSpPr>
        <p:grpSpPr>
          <a:xfrm>
            <a:off x="28532667" y="6925920"/>
            <a:ext cx="14458023" cy="1018901"/>
            <a:chOff x="726443" y="7966731"/>
            <a:chExt cx="16213239" cy="1188720"/>
          </a:xfrm>
        </p:grpSpPr>
        <p:grpSp>
          <p:nvGrpSpPr>
            <p:cNvPr id="20" name="Group 19">
              <a:extLst>
                <a:ext uri="{FF2B5EF4-FFF2-40B4-BE49-F238E27FC236}">
                  <a16:creationId xmlns:a16="http://schemas.microsoft.com/office/drawing/2014/main" id="{4A3B038B-074F-25D3-9DB9-1BB856DC4C5A}"/>
                </a:ext>
              </a:extLst>
            </p:cNvPr>
            <p:cNvGrpSpPr/>
            <p:nvPr/>
          </p:nvGrpSpPr>
          <p:grpSpPr>
            <a:xfrm>
              <a:off x="726443" y="7966731"/>
              <a:ext cx="16211954" cy="1188720"/>
              <a:chOff x="939504" y="8042931"/>
              <a:chExt cx="14305822" cy="1188720"/>
            </a:xfrm>
          </p:grpSpPr>
          <p:sp>
            <p:nvSpPr>
              <p:cNvPr id="33" name="Rectangle 32">
                <a:extLst>
                  <a:ext uri="{FF2B5EF4-FFF2-40B4-BE49-F238E27FC236}">
                    <a16:creationId xmlns:a16="http://schemas.microsoft.com/office/drawing/2014/main" id="{4A68CB64-CEC8-8943-839C-0E7C0B58CCB9}"/>
                  </a:ext>
                </a:extLst>
              </p:cNvPr>
              <p:cNvSpPr/>
              <p:nvPr/>
            </p:nvSpPr>
            <p:spPr>
              <a:xfrm>
                <a:off x="1528421" y="8042931"/>
                <a:ext cx="13716000" cy="1188720"/>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141"/>
              </a:p>
            </p:txBody>
          </p:sp>
          <p:cxnSp>
            <p:nvCxnSpPr>
              <p:cNvPr id="35" name="Straight Connector 34">
                <a:extLst>
                  <a:ext uri="{FF2B5EF4-FFF2-40B4-BE49-F238E27FC236}">
                    <a16:creationId xmlns:a16="http://schemas.microsoft.com/office/drawing/2014/main" id="{0F8B3331-BA5E-B3EA-B062-348A7684ADA4}"/>
                  </a:ext>
                </a:extLst>
              </p:cNvPr>
              <p:cNvCxnSpPr/>
              <p:nvPr/>
            </p:nvCxnSpPr>
            <p:spPr>
              <a:xfrm>
                <a:off x="1529326" y="8108886"/>
                <a:ext cx="13716000" cy="0"/>
              </a:xfrm>
              <a:prstGeom prst="line">
                <a:avLst/>
              </a:prstGeom>
              <a:ln w="139700" cmpd="sng">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5330981-E589-3E03-00D8-2D7DDE3DFCA6}"/>
                  </a:ext>
                </a:extLst>
              </p:cNvPr>
              <p:cNvCxnSpPr/>
              <p:nvPr/>
            </p:nvCxnSpPr>
            <p:spPr>
              <a:xfrm>
                <a:off x="1528218" y="9121911"/>
                <a:ext cx="13716000" cy="0"/>
              </a:xfrm>
              <a:prstGeom prst="line">
                <a:avLst/>
              </a:prstGeom>
              <a:ln w="215900" cmpd="thinThick">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E8E694A1-2FBC-DD00-4916-967D9A7CEA12}"/>
                  </a:ext>
                </a:extLst>
              </p:cNvPr>
              <p:cNvSpPr txBox="1"/>
              <p:nvPr/>
            </p:nvSpPr>
            <p:spPr>
              <a:xfrm>
                <a:off x="939504" y="8102834"/>
                <a:ext cx="13765744" cy="999646"/>
              </a:xfrm>
              <a:prstGeom prst="rect">
                <a:avLst/>
              </a:prstGeom>
              <a:noFill/>
            </p:spPr>
            <p:txBody>
              <a:bodyPr wrap="square" rtlCol="0">
                <a:spAutoFit/>
              </a:bodyPr>
              <a:lstStyle/>
              <a:p>
                <a:pPr algn="ctr"/>
                <a:r>
                  <a:rPr lang="en-US" sz="4968" b="1">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Results</a:t>
                </a:r>
              </a:p>
            </p:txBody>
          </p:sp>
        </p:grpSp>
        <p:cxnSp>
          <p:nvCxnSpPr>
            <p:cNvPr id="23" name="Straight Connector 22">
              <a:extLst>
                <a:ext uri="{FF2B5EF4-FFF2-40B4-BE49-F238E27FC236}">
                  <a16:creationId xmlns:a16="http://schemas.microsoft.com/office/drawing/2014/main" id="{BB70B959-9479-F3DA-660C-DC935D4EF3B8}"/>
                </a:ext>
              </a:extLst>
            </p:cNvPr>
            <p:cNvCxnSpPr/>
            <p:nvPr/>
          </p:nvCxnSpPr>
          <p:spPr>
            <a:xfrm>
              <a:off x="1392237" y="8096516"/>
              <a:ext cx="15547445"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498" name="TextBox 497">
            <a:extLst>
              <a:ext uri="{FF2B5EF4-FFF2-40B4-BE49-F238E27FC236}">
                <a16:creationId xmlns:a16="http://schemas.microsoft.com/office/drawing/2014/main" id="{956650DD-DF55-2866-3743-FD1B22743142}"/>
              </a:ext>
            </a:extLst>
          </p:cNvPr>
          <p:cNvSpPr txBox="1"/>
          <p:nvPr/>
        </p:nvSpPr>
        <p:spPr>
          <a:xfrm>
            <a:off x="28954218" y="7986982"/>
            <a:ext cx="906998" cy="387209"/>
          </a:xfrm>
          <a:prstGeom prst="rect">
            <a:avLst/>
          </a:prstGeom>
          <a:noFill/>
          <a:ln>
            <a:noFill/>
          </a:ln>
        </p:spPr>
        <p:txBody>
          <a:bodyPr wrap="square" lIns="78341" tIns="39173" rIns="78341" bIns="39173" rtlCol="0" anchor="ctr" anchorCtr="1">
            <a:spAutoFit/>
          </a:bodyPr>
          <a:lstStyle/>
          <a:p>
            <a:r>
              <a:rPr lang="en-US" sz="2002" b="1">
                <a:latin typeface="Arial" panose="020B0604020202020204" pitchFamily="34" charset="0"/>
                <a:cs typeface="Arial" panose="020B0604020202020204" pitchFamily="34" charset="0"/>
              </a:rPr>
              <a:t>A.</a:t>
            </a:r>
          </a:p>
        </p:txBody>
      </p:sp>
      <p:sp>
        <p:nvSpPr>
          <p:cNvPr id="495" name="TextBox 494">
            <a:extLst>
              <a:ext uri="{FF2B5EF4-FFF2-40B4-BE49-F238E27FC236}">
                <a16:creationId xmlns:a16="http://schemas.microsoft.com/office/drawing/2014/main" id="{2BE32D3F-1BD8-6E7F-DE2D-1A7CB521096B}"/>
              </a:ext>
            </a:extLst>
          </p:cNvPr>
          <p:cNvSpPr txBox="1"/>
          <p:nvPr/>
        </p:nvSpPr>
        <p:spPr>
          <a:xfrm>
            <a:off x="35435640" y="7988546"/>
            <a:ext cx="906998" cy="387209"/>
          </a:xfrm>
          <a:prstGeom prst="rect">
            <a:avLst/>
          </a:prstGeom>
          <a:noFill/>
          <a:ln>
            <a:noFill/>
          </a:ln>
        </p:spPr>
        <p:txBody>
          <a:bodyPr wrap="square" lIns="78341" tIns="39173" rIns="78341" bIns="39173" rtlCol="0" anchor="ctr" anchorCtr="1">
            <a:spAutoFit/>
          </a:bodyPr>
          <a:lstStyle/>
          <a:p>
            <a:r>
              <a:rPr lang="en-US" sz="2002" b="1">
                <a:latin typeface="Arial" panose="020B0604020202020204" pitchFamily="34" charset="0"/>
                <a:cs typeface="Arial" panose="020B0604020202020204" pitchFamily="34" charset="0"/>
              </a:rPr>
              <a:t>B.</a:t>
            </a:r>
          </a:p>
        </p:txBody>
      </p:sp>
      <p:pic>
        <p:nvPicPr>
          <p:cNvPr id="32" name="Picture 31" descr="A graph with red and blue dots&#10;&#10;AI-generated content may be incorrect.">
            <a:extLst>
              <a:ext uri="{FF2B5EF4-FFF2-40B4-BE49-F238E27FC236}">
                <a16:creationId xmlns:a16="http://schemas.microsoft.com/office/drawing/2014/main" id="{47461F51-BD55-3EB1-CE28-E2C9FBF88FD8}"/>
              </a:ext>
            </a:extLst>
          </p:cNvPr>
          <p:cNvPicPr>
            <a:picLocks noChangeAspect="1"/>
          </p:cNvPicPr>
          <p:nvPr/>
        </p:nvPicPr>
        <p:blipFill>
          <a:blip r:embed="rId20">
            <a:extLst>
              <a:ext uri="{28A0092B-C50C-407E-A947-70E740481C1C}">
                <a14:useLocalDpi xmlns:a14="http://schemas.microsoft.com/office/drawing/2010/main" val="0"/>
              </a:ext>
            </a:extLst>
          </a:blip>
          <a:srcRect t="6649"/>
          <a:stretch>
            <a:fillRect/>
          </a:stretch>
        </p:blipFill>
        <p:spPr>
          <a:xfrm>
            <a:off x="15648790" y="25919897"/>
            <a:ext cx="6530954" cy="3658018"/>
          </a:xfrm>
          <a:prstGeom prst="rect">
            <a:avLst/>
          </a:prstGeom>
        </p:spPr>
      </p:pic>
      <p:sp>
        <p:nvSpPr>
          <p:cNvPr id="62" name="TextBox 61">
            <a:extLst>
              <a:ext uri="{FF2B5EF4-FFF2-40B4-BE49-F238E27FC236}">
                <a16:creationId xmlns:a16="http://schemas.microsoft.com/office/drawing/2014/main" id="{63442191-BC72-54BB-83F3-3954E2D3B0CF}"/>
              </a:ext>
            </a:extLst>
          </p:cNvPr>
          <p:cNvSpPr txBox="1"/>
          <p:nvPr/>
        </p:nvSpPr>
        <p:spPr>
          <a:xfrm>
            <a:off x="29097171" y="15000027"/>
            <a:ext cx="13893519" cy="4966488"/>
          </a:xfrm>
          <a:prstGeom prst="rect">
            <a:avLst/>
          </a:prstGeom>
          <a:noFill/>
        </p:spPr>
        <p:txBody>
          <a:bodyPr wrap="square" lIns="91440" tIns="45720" rIns="91440" bIns="45720" rtlCol="0" anchor="t">
            <a:spAutoFit/>
          </a:bodyPr>
          <a:lstStyle/>
          <a:p>
            <a:pPr marL="285750" indent="-285750">
              <a:lnSpc>
                <a:spcPct val="107000"/>
              </a:lnSpc>
              <a:spcAft>
                <a:spcPts val="600"/>
              </a:spcAft>
              <a:buFont typeface="Arial" panose="020B0604020202020204" pitchFamily="34" charset="0"/>
              <a:buChar char="•"/>
            </a:pPr>
            <a:r>
              <a:rPr lang="en-US" sz="1800" kern="100">
                <a:latin typeface="Arial"/>
                <a:ea typeface="DengXian"/>
                <a:cs typeface="Arial"/>
              </a:rPr>
              <a:t>16s: </a:t>
            </a:r>
            <a:r>
              <a:rPr lang="en-US" sz="1800" kern="100">
                <a:solidFill>
                  <a:srgbClr val="000000"/>
                </a:solidFill>
                <a:latin typeface="Arial"/>
                <a:ea typeface="DengXian"/>
                <a:cs typeface="Arial"/>
              </a:rPr>
              <a:t>Shannon Diversity Assessment indicated that AD had fewer genera present and/or less evenly distributed genera in comparison to control (p &lt; 0.03). Faith’s PD indicated that there was no significant differences in relatedness between AD and control (p &gt; 0.05) indicating overall richness may be unchanged, so Shannon’s Diversity Assessment most likely showed significance due to genera evenness rather than richness. According to </a:t>
            </a:r>
            <a:r>
              <a:rPr lang="el-GR" sz="1800">
                <a:latin typeface="Arial"/>
                <a:cs typeface="Arial"/>
              </a:rPr>
              <a:t>β-</a:t>
            </a:r>
            <a:r>
              <a:rPr lang="en-US" sz="1800">
                <a:latin typeface="Arial"/>
                <a:cs typeface="Arial"/>
              </a:rPr>
              <a:t>diversity analysis  (</a:t>
            </a:r>
            <a:r>
              <a:rPr lang="en-US" sz="1800" err="1">
                <a:latin typeface="Arial"/>
                <a:cs typeface="Arial"/>
              </a:rPr>
              <a:t>PCoA</a:t>
            </a:r>
            <a:r>
              <a:rPr lang="en-US" sz="1800">
                <a:latin typeface="Arial"/>
                <a:cs typeface="Arial"/>
              </a:rPr>
              <a:t>) showed two distinct clusters (21.5% variance between AD and control) indicating composition and relative abundance are altered. The volcano plot elaborates further by attributing the differential abundance across genera being due a decrease in AD genera. The boxplots show the specific genera that significantly  increase or decrease as determined by DESeq2</a:t>
            </a:r>
            <a:endParaRPr lang="en-US" sz="1800" kern="100">
              <a:solidFill>
                <a:srgbClr val="000000"/>
              </a:solidFill>
              <a:latin typeface="Arial" panose="020B0604020202020204" pitchFamily="34" charset="0"/>
              <a:ea typeface="DengXian" panose="02010600030101010101" pitchFamily="2" charset="-122"/>
              <a:cs typeface="Arial" panose="020B0604020202020204" pitchFamily="34" charset="0"/>
            </a:endParaRPr>
          </a:p>
          <a:p>
            <a:pPr marL="285750" indent="-285750">
              <a:lnSpc>
                <a:spcPct val="107000"/>
              </a:lnSpc>
              <a:spcAft>
                <a:spcPts val="600"/>
              </a:spcAft>
              <a:buFont typeface="Arial" panose="020B0604020202020204" pitchFamily="34" charset="0"/>
              <a:buChar char="•"/>
            </a:pPr>
            <a:r>
              <a:rPr lang="en-US" sz="1800" kern="100">
                <a:latin typeface="Arial"/>
                <a:ea typeface="DengXian"/>
                <a:cs typeface="Arial"/>
              </a:rPr>
              <a:t>Bulk RNA-seq: </a:t>
            </a:r>
            <a:r>
              <a:rPr lang="en-US" sz="1800">
                <a:latin typeface="Arial"/>
                <a:cs typeface="Arial"/>
              </a:rPr>
              <a:t>Major upregulated genes in AD are involved in protein binding and the extracellular matrix, which could be related to tau dysregulation given that tau is a key cytoskeletal protein involved in protein binding. Major downregulated genes include GTPases, which have been shown to be linked to mitochondrial dysfunction and decreased vesicular transport needed to regulate tau clearance in AD. These findings are supported by KEGG and GO pathways that found increased extracellular vesicles and dysfunction of cytoskeletal proteins like tau. The Ras pathway was also enriched which has been linked to amyloid-beta-mediated AD pathology.</a:t>
            </a:r>
            <a:endParaRPr lang="en-US" sz="1800" kern="100">
              <a:latin typeface="Arial"/>
              <a:ea typeface="DengXian" panose="02010600030101010101" pitchFamily="2" charset="-122"/>
              <a:cs typeface="Arial"/>
            </a:endParaRPr>
          </a:p>
          <a:p>
            <a:pPr marL="285750" indent="-285750">
              <a:lnSpc>
                <a:spcPct val="107000"/>
              </a:lnSpc>
              <a:spcAft>
                <a:spcPts val="600"/>
              </a:spcAft>
              <a:buFont typeface="Arial" panose="020B0604020202020204" pitchFamily="34" charset="0"/>
              <a:buChar char="•"/>
            </a:pPr>
            <a:r>
              <a:rPr lang="en-US" sz="1800" kern="100">
                <a:latin typeface="Arial"/>
                <a:ea typeface="DengXian"/>
                <a:cs typeface="Arial"/>
              </a:rPr>
              <a:t>Single-cell RNA-seq: Oligodendrocytes (associated with production of amyloid-</a:t>
            </a:r>
            <a:r>
              <a:rPr lang="el-GR" sz="1800" kern="100">
                <a:latin typeface="Arial"/>
                <a:ea typeface="DengXian"/>
                <a:cs typeface="Arial"/>
              </a:rPr>
              <a:t>β</a:t>
            </a:r>
            <a:r>
              <a:rPr lang="en-US" sz="1800" kern="100">
                <a:latin typeface="Arial"/>
                <a:ea typeface="DengXian"/>
                <a:cs typeface="Arial"/>
              </a:rPr>
              <a:t>) and Excitatory Neurons (associated with tau accumulation) showed variety of gene profiles and form ring of smaller clusters around large central clusters possibly due to the presence of different excitatory neurotransmitters</a:t>
            </a:r>
          </a:p>
        </p:txBody>
      </p:sp>
      <p:pic>
        <p:nvPicPr>
          <p:cNvPr id="40" name="Picture 39" descr="A baby sitting next to a test tube&#10;&#10;AI-generated content may be incorrect.">
            <a:extLst>
              <a:ext uri="{FF2B5EF4-FFF2-40B4-BE49-F238E27FC236}">
                <a16:creationId xmlns:a16="http://schemas.microsoft.com/office/drawing/2014/main" id="{65132A5A-BD14-ECEA-BBAC-2152008F96A2}"/>
              </a:ext>
            </a:extLst>
          </p:cNvPr>
          <p:cNvPicPr>
            <a:picLocks noChangeAspect="1"/>
          </p:cNvPicPr>
          <p:nvPr/>
        </p:nvPicPr>
        <p:blipFill>
          <a:blip r:embed="rId21"/>
          <a:stretch>
            <a:fillRect/>
          </a:stretch>
        </p:blipFill>
        <p:spPr>
          <a:xfrm>
            <a:off x="932460" y="18491706"/>
            <a:ext cx="1723670" cy="1731937"/>
          </a:xfrm>
          <a:prstGeom prst="rect">
            <a:avLst/>
          </a:prstGeom>
        </p:spPr>
      </p:pic>
      <p:pic>
        <p:nvPicPr>
          <p:cNvPr id="58" name="Picture 57" descr="A close-up of a test tube&#10;&#10;AI-generated content may be incorrect.">
            <a:extLst>
              <a:ext uri="{FF2B5EF4-FFF2-40B4-BE49-F238E27FC236}">
                <a16:creationId xmlns:a16="http://schemas.microsoft.com/office/drawing/2014/main" id="{B576F090-0FD8-5968-39A7-3ACB5E5C673D}"/>
              </a:ext>
            </a:extLst>
          </p:cNvPr>
          <p:cNvPicPr>
            <a:picLocks noChangeAspect="1"/>
          </p:cNvPicPr>
          <p:nvPr/>
        </p:nvPicPr>
        <p:blipFill>
          <a:blip r:embed="rId22"/>
          <a:stretch>
            <a:fillRect/>
          </a:stretch>
        </p:blipFill>
        <p:spPr>
          <a:xfrm>
            <a:off x="2526100" y="18543468"/>
            <a:ext cx="2435525" cy="1731934"/>
          </a:xfrm>
          <a:prstGeom prst="rect">
            <a:avLst/>
          </a:prstGeom>
        </p:spPr>
      </p:pic>
      <p:pic>
        <p:nvPicPr>
          <p:cNvPr id="61" name="Picture 60">
            <a:extLst>
              <a:ext uri="{FF2B5EF4-FFF2-40B4-BE49-F238E27FC236}">
                <a16:creationId xmlns:a16="http://schemas.microsoft.com/office/drawing/2014/main" id="{94E812EB-ACBD-8D37-74CF-1A61D658EA81}"/>
              </a:ext>
            </a:extLst>
          </p:cNvPr>
          <p:cNvPicPr>
            <a:picLocks noChangeAspect="1"/>
          </p:cNvPicPr>
          <p:nvPr/>
        </p:nvPicPr>
        <p:blipFill>
          <a:blip r:embed="rId23"/>
          <a:stretch>
            <a:fillRect/>
          </a:stretch>
        </p:blipFill>
        <p:spPr>
          <a:xfrm>
            <a:off x="4868442" y="18319181"/>
            <a:ext cx="3254497" cy="1800947"/>
          </a:xfrm>
          <a:prstGeom prst="rect">
            <a:avLst/>
          </a:prstGeom>
        </p:spPr>
      </p:pic>
      <p:pic>
        <p:nvPicPr>
          <p:cNvPr id="452" name="Picture 451" descr="phyloseq: Explore microbiome profiles ...">
            <a:extLst>
              <a:ext uri="{FF2B5EF4-FFF2-40B4-BE49-F238E27FC236}">
                <a16:creationId xmlns:a16="http://schemas.microsoft.com/office/drawing/2014/main" id="{29104ABB-0572-A38C-30CB-799A3B4F6B52}"/>
              </a:ext>
            </a:extLst>
          </p:cNvPr>
          <p:cNvPicPr>
            <a:picLocks noChangeAspect="1"/>
          </p:cNvPicPr>
          <p:nvPr/>
        </p:nvPicPr>
        <p:blipFill>
          <a:blip r:embed="rId24"/>
          <a:stretch>
            <a:fillRect/>
          </a:stretch>
        </p:blipFill>
        <p:spPr>
          <a:xfrm>
            <a:off x="11305905" y="18365193"/>
            <a:ext cx="1283362" cy="1536402"/>
          </a:xfrm>
          <a:prstGeom prst="rect">
            <a:avLst/>
          </a:prstGeom>
        </p:spPr>
      </p:pic>
      <p:pic>
        <p:nvPicPr>
          <p:cNvPr id="453" name="Picture 452" descr="DADA2 Pipeline Tutorial (1.16)">
            <a:extLst>
              <a:ext uri="{FF2B5EF4-FFF2-40B4-BE49-F238E27FC236}">
                <a16:creationId xmlns:a16="http://schemas.microsoft.com/office/drawing/2014/main" id="{523EA3A8-83A4-7B70-BD4E-A263AEDB4B71}"/>
              </a:ext>
            </a:extLst>
          </p:cNvPr>
          <p:cNvPicPr>
            <a:picLocks noChangeAspect="1"/>
          </p:cNvPicPr>
          <p:nvPr/>
        </p:nvPicPr>
        <p:blipFill>
          <a:blip r:embed="rId25"/>
          <a:stretch>
            <a:fillRect/>
          </a:stretch>
        </p:blipFill>
        <p:spPr>
          <a:xfrm>
            <a:off x="8291243" y="18314778"/>
            <a:ext cx="2533650" cy="1809750"/>
          </a:xfrm>
          <a:prstGeom prst="rect">
            <a:avLst/>
          </a:prstGeom>
        </p:spPr>
      </p:pic>
      <p:sp>
        <p:nvSpPr>
          <p:cNvPr id="455" name="TextBox 454">
            <a:extLst>
              <a:ext uri="{FF2B5EF4-FFF2-40B4-BE49-F238E27FC236}">
                <a16:creationId xmlns:a16="http://schemas.microsoft.com/office/drawing/2014/main" id="{3E3896D5-6283-2FC5-711A-15C340746686}"/>
              </a:ext>
            </a:extLst>
          </p:cNvPr>
          <p:cNvSpPr txBox="1"/>
          <p:nvPr/>
        </p:nvSpPr>
        <p:spPr>
          <a:xfrm>
            <a:off x="759125" y="18319735"/>
            <a:ext cx="94890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Arial"/>
                <a:ea typeface="Arial"/>
                <a:cs typeface="Arial"/>
              </a:rPr>
              <a:t>A.</a:t>
            </a:r>
            <a:endParaRPr lang="en-US" sz="2000"/>
          </a:p>
          <a:p>
            <a:pPr algn="ctr"/>
            <a:endParaRPr lang="en-US" sz="2000">
              <a:ea typeface="Calibri"/>
              <a:cs typeface="Calibri"/>
            </a:endParaRPr>
          </a:p>
        </p:txBody>
      </p:sp>
      <p:pic>
        <p:nvPicPr>
          <p:cNvPr id="462" name="Picture 461" descr="Salmon – Accurate, Versatile and ...">
            <a:extLst>
              <a:ext uri="{FF2B5EF4-FFF2-40B4-BE49-F238E27FC236}">
                <a16:creationId xmlns:a16="http://schemas.microsoft.com/office/drawing/2014/main" id="{2A1EC7B2-2F57-A720-D560-1DE0CB21B2B5}"/>
              </a:ext>
            </a:extLst>
          </p:cNvPr>
          <p:cNvPicPr>
            <a:picLocks noChangeAspect="1"/>
          </p:cNvPicPr>
          <p:nvPr/>
        </p:nvPicPr>
        <p:blipFill>
          <a:blip r:embed="rId26"/>
          <a:stretch>
            <a:fillRect/>
          </a:stretch>
        </p:blipFill>
        <p:spPr>
          <a:xfrm>
            <a:off x="3731555" y="20804610"/>
            <a:ext cx="2405513" cy="1648904"/>
          </a:xfrm>
          <a:prstGeom prst="rect">
            <a:avLst/>
          </a:prstGeom>
        </p:spPr>
      </p:pic>
      <p:pic>
        <p:nvPicPr>
          <p:cNvPr id="463" name="Picture 462" descr="Babraham Bioinformatics - FastQC A ...">
            <a:extLst>
              <a:ext uri="{FF2B5EF4-FFF2-40B4-BE49-F238E27FC236}">
                <a16:creationId xmlns:a16="http://schemas.microsoft.com/office/drawing/2014/main" id="{C40C3CB4-DC93-B0A8-3D73-D643A1423032}"/>
              </a:ext>
            </a:extLst>
          </p:cNvPr>
          <p:cNvPicPr>
            <a:picLocks noChangeAspect="1"/>
          </p:cNvPicPr>
          <p:nvPr/>
        </p:nvPicPr>
        <p:blipFill>
          <a:blip r:embed="rId27"/>
          <a:stretch>
            <a:fillRect/>
          </a:stretch>
        </p:blipFill>
        <p:spPr>
          <a:xfrm>
            <a:off x="947476" y="20861632"/>
            <a:ext cx="2426001" cy="1633628"/>
          </a:xfrm>
          <a:prstGeom prst="rect">
            <a:avLst/>
          </a:prstGeom>
        </p:spPr>
      </p:pic>
      <p:pic>
        <p:nvPicPr>
          <p:cNvPr id="464" name="Picture 463" descr="Reproducible Transcriptomic Analysis ...">
            <a:extLst>
              <a:ext uri="{FF2B5EF4-FFF2-40B4-BE49-F238E27FC236}">
                <a16:creationId xmlns:a16="http://schemas.microsoft.com/office/drawing/2014/main" id="{D7390326-A5CC-4DF0-77AE-69BCD6E55159}"/>
              </a:ext>
            </a:extLst>
          </p:cNvPr>
          <p:cNvPicPr>
            <a:picLocks noChangeAspect="1"/>
          </p:cNvPicPr>
          <p:nvPr/>
        </p:nvPicPr>
        <p:blipFill>
          <a:blip r:embed="rId28"/>
          <a:stretch>
            <a:fillRect/>
          </a:stretch>
        </p:blipFill>
        <p:spPr>
          <a:xfrm>
            <a:off x="6523899" y="20900102"/>
            <a:ext cx="1350573" cy="1624464"/>
          </a:xfrm>
          <a:prstGeom prst="rect">
            <a:avLst/>
          </a:prstGeom>
        </p:spPr>
      </p:pic>
      <p:pic>
        <p:nvPicPr>
          <p:cNvPr id="448" name="Picture 447" descr="dotplot for enrichment result">
            <a:extLst>
              <a:ext uri="{FF2B5EF4-FFF2-40B4-BE49-F238E27FC236}">
                <a16:creationId xmlns:a16="http://schemas.microsoft.com/office/drawing/2014/main" id="{5F3F5E82-7D6C-FD97-670E-6C6F8D2A42B6}"/>
              </a:ext>
            </a:extLst>
          </p:cNvPr>
          <p:cNvPicPr>
            <a:picLocks noChangeAspect="1"/>
          </p:cNvPicPr>
          <p:nvPr/>
        </p:nvPicPr>
        <p:blipFill>
          <a:blip r:embed="rId29"/>
          <a:stretch>
            <a:fillRect/>
          </a:stretch>
        </p:blipFill>
        <p:spPr>
          <a:xfrm>
            <a:off x="8291015" y="20890982"/>
            <a:ext cx="1927817" cy="1631002"/>
          </a:xfrm>
          <a:prstGeom prst="rect">
            <a:avLst/>
          </a:prstGeom>
        </p:spPr>
      </p:pic>
      <p:pic>
        <p:nvPicPr>
          <p:cNvPr id="465" name="Picture 464" descr="KEGG - Wikipedia">
            <a:extLst>
              <a:ext uri="{FF2B5EF4-FFF2-40B4-BE49-F238E27FC236}">
                <a16:creationId xmlns:a16="http://schemas.microsoft.com/office/drawing/2014/main" id="{94EF021F-E91C-25E4-2F7B-D4E600D6F62D}"/>
              </a:ext>
            </a:extLst>
          </p:cNvPr>
          <p:cNvPicPr>
            <a:picLocks noChangeAspect="1"/>
          </p:cNvPicPr>
          <p:nvPr/>
        </p:nvPicPr>
        <p:blipFill>
          <a:blip r:embed="rId30"/>
          <a:stretch>
            <a:fillRect/>
          </a:stretch>
        </p:blipFill>
        <p:spPr>
          <a:xfrm>
            <a:off x="10582793" y="21035045"/>
            <a:ext cx="1903024" cy="1361176"/>
          </a:xfrm>
          <a:prstGeom prst="rect">
            <a:avLst/>
          </a:prstGeom>
        </p:spPr>
      </p:pic>
      <p:pic>
        <p:nvPicPr>
          <p:cNvPr id="468" name="Picture 467" descr="A computer screen with colorful graphics&#10;&#10;AI-generated content may be incorrect.">
            <a:extLst>
              <a:ext uri="{FF2B5EF4-FFF2-40B4-BE49-F238E27FC236}">
                <a16:creationId xmlns:a16="http://schemas.microsoft.com/office/drawing/2014/main" id="{A77CBA3B-6206-2818-A22F-DA926580A156}"/>
              </a:ext>
            </a:extLst>
          </p:cNvPr>
          <p:cNvPicPr>
            <a:picLocks noChangeAspect="1"/>
          </p:cNvPicPr>
          <p:nvPr/>
        </p:nvPicPr>
        <p:blipFill>
          <a:blip r:embed="rId31"/>
          <a:stretch>
            <a:fillRect/>
          </a:stretch>
        </p:blipFill>
        <p:spPr>
          <a:xfrm>
            <a:off x="12753886" y="20979621"/>
            <a:ext cx="2234780" cy="1604156"/>
          </a:xfrm>
          <a:prstGeom prst="rect">
            <a:avLst/>
          </a:prstGeom>
        </p:spPr>
      </p:pic>
      <p:sp>
        <p:nvSpPr>
          <p:cNvPr id="469" name="TextBox 468">
            <a:extLst>
              <a:ext uri="{FF2B5EF4-FFF2-40B4-BE49-F238E27FC236}">
                <a16:creationId xmlns:a16="http://schemas.microsoft.com/office/drawing/2014/main" id="{D794B735-D676-5B53-A396-A06BA82F5813}"/>
              </a:ext>
            </a:extLst>
          </p:cNvPr>
          <p:cNvSpPr txBox="1"/>
          <p:nvPr/>
        </p:nvSpPr>
        <p:spPr>
          <a:xfrm>
            <a:off x="741872" y="20496362"/>
            <a:ext cx="191506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Arial"/>
                <a:cs typeface="Arial"/>
              </a:rPr>
              <a:t>B.</a:t>
            </a:r>
            <a:endParaRPr lang="en-US" sz="2000"/>
          </a:p>
          <a:p>
            <a:pPr algn="ctr"/>
            <a:endParaRPr lang="en-US" sz="1600">
              <a:ea typeface="Calibri"/>
              <a:cs typeface="Calibri"/>
            </a:endParaRPr>
          </a:p>
        </p:txBody>
      </p:sp>
      <p:sp>
        <p:nvSpPr>
          <p:cNvPr id="470" name="TextBox 469">
            <a:extLst>
              <a:ext uri="{FF2B5EF4-FFF2-40B4-BE49-F238E27FC236}">
                <a16:creationId xmlns:a16="http://schemas.microsoft.com/office/drawing/2014/main" id="{4ED11606-D7E9-7D6D-8599-27F113D30849}"/>
              </a:ext>
            </a:extLst>
          </p:cNvPr>
          <p:cNvSpPr txBox="1"/>
          <p:nvPr/>
        </p:nvSpPr>
        <p:spPr>
          <a:xfrm>
            <a:off x="966649" y="23118793"/>
            <a:ext cx="14164084"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baseline="0">
                <a:latin typeface="Arial" panose="020B0604020202020204" pitchFamily="34" charset="0"/>
                <a:cs typeface="Arial" panose="020B0604020202020204" pitchFamily="34" charset="0"/>
              </a:rPr>
              <a:t>Figure </a:t>
            </a:r>
            <a:r>
              <a:rPr lang="en-US" sz="1600" b="1">
                <a:latin typeface="Arial" panose="020B0604020202020204" pitchFamily="34" charset="0"/>
                <a:cs typeface="Arial" panose="020B0604020202020204" pitchFamily="34" charset="0"/>
              </a:rPr>
              <a:t>1</a:t>
            </a:r>
            <a:r>
              <a:rPr lang="en-US" sz="1600" b="1" baseline="0">
                <a:latin typeface="Arial" panose="020B0604020202020204" pitchFamily="34" charset="0"/>
                <a:cs typeface="Arial" panose="020B0604020202020204" pitchFamily="34" charset="0"/>
              </a:rPr>
              <a:t>. </a:t>
            </a:r>
            <a:r>
              <a:rPr lang="en-US" sz="1600" b="1">
                <a:latin typeface="Arial" panose="020B0604020202020204" pitchFamily="34" charset="0"/>
                <a:cs typeface="Arial" panose="020B0604020202020204" pitchFamily="34" charset="0"/>
              </a:rPr>
              <a:t>Methods &amp; Pipeline for Analysis</a:t>
            </a:r>
            <a:r>
              <a:rPr lang="en-US" sz="1600" b="1" baseline="0">
                <a:latin typeface="Arial" panose="020B0604020202020204" pitchFamily="34" charset="0"/>
                <a:cs typeface="Arial" panose="020B0604020202020204" pitchFamily="34" charset="0"/>
              </a:rPr>
              <a:t>. (A) </a:t>
            </a:r>
            <a:r>
              <a:rPr lang="en-US" sz="1600" b="1">
                <a:latin typeface="Arial" panose="020B0604020202020204" pitchFamily="34" charset="0"/>
                <a:cs typeface="Arial" panose="020B0604020202020204" pitchFamily="34" charset="0"/>
              </a:rPr>
              <a:t>16s Data Methods</a:t>
            </a:r>
            <a:r>
              <a:rPr lang="en-US" sz="1600" b="1" baseline="0">
                <a:latin typeface="Arial" panose="020B0604020202020204" pitchFamily="34" charset="0"/>
                <a:cs typeface="Arial" panose="020B0604020202020204" pitchFamily="34" charset="0"/>
              </a:rPr>
              <a:t>.</a:t>
            </a:r>
            <a:r>
              <a:rPr lang="en-US" sz="1600" b="1">
                <a:latin typeface="Arial" panose="020B0604020202020204" pitchFamily="34" charset="0"/>
                <a:cs typeface="Arial" panose="020B0604020202020204" pitchFamily="34" charset="0"/>
              </a:rPr>
              <a:t> </a:t>
            </a:r>
            <a:r>
              <a:rPr lang="en-US" sz="1600">
                <a:latin typeface="Arial" panose="020B0604020202020204" pitchFamily="34" charset="0"/>
                <a:ea typeface="+mn-lt"/>
                <a:cs typeface="Arial" panose="020B0604020202020204" pitchFamily="34" charset="0"/>
              </a:rPr>
              <a:t>Showing the 16S pipeline from sample collection and DNA extraction to amplicon sequencing, taxonomic assignment, </a:t>
            </a:r>
            <a:r>
              <a:rPr lang="en-US" sz="1600" err="1">
                <a:latin typeface="Arial" panose="020B0604020202020204" pitchFamily="34" charset="0"/>
                <a:ea typeface="+mn-lt"/>
                <a:cs typeface="Arial" panose="020B0604020202020204" pitchFamily="34" charset="0"/>
              </a:rPr>
              <a:t>phyloseq</a:t>
            </a:r>
            <a:r>
              <a:rPr lang="en-US" sz="1600">
                <a:latin typeface="Arial" panose="020B0604020202020204" pitchFamily="34" charset="0"/>
                <a:ea typeface="+mn-lt"/>
                <a:cs typeface="Arial" panose="020B0604020202020204" pitchFamily="34" charset="0"/>
              </a:rPr>
              <a:t> object creation, and differential abundance analysis.</a:t>
            </a:r>
            <a:r>
              <a:rPr lang="en-US" sz="1600">
                <a:latin typeface="Arial" panose="020B0604020202020204" pitchFamily="34" charset="0"/>
                <a:cs typeface="Arial" panose="020B0604020202020204" pitchFamily="34" charset="0"/>
              </a:rPr>
              <a:t> </a:t>
            </a:r>
            <a:r>
              <a:rPr lang="en-US" sz="1600" baseline="0">
                <a:latin typeface="Arial" panose="020B0604020202020204" pitchFamily="34" charset="0"/>
                <a:cs typeface="Arial" panose="020B0604020202020204" pitchFamily="34" charset="0"/>
              </a:rPr>
              <a:t> </a:t>
            </a:r>
            <a:r>
              <a:rPr lang="en-US" sz="1600" b="1" baseline="0">
                <a:latin typeface="Arial" panose="020B0604020202020204" pitchFamily="34" charset="0"/>
                <a:cs typeface="Arial" panose="020B0604020202020204" pitchFamily="34" charset="0"/>
              </a:rPr>
              <a:t>(B) </a:t>
            </a:r>
            <a:r>
              <a:rPr lang="en-US" sz="1600" b="1">
                <a:latin typeface="Arial" panose="020B0604020202020204" pitchFamily="34" charset="0"/>
                <a:cs typeface="Arial" panose="020B0604020202020204" pitchFamily="34" charset="0"/>
              </a:rPr>
              <a:t>RNA seq Data Methods.</a:t>
            </a:r>
            <a:r>
              <a:rPr lang="en-US" sz="1600">
                <a:latin typeface="Arial" panose="020B0604020202020204" pitchFamily="34" charset="0"/>
                <a:cs typeface="Arial" panose="020B0604020202020204" pitchFamily="34" charset="0"/>
              </a:rPr>
              <a:t> </a:t>
            </a:r>
            <a:r>
              <a:rPr lang="en-US" sz="1600">
                <a:latin typeface="Arial" panose="020B0604020202020204" pitchFamily="34" charset="0"/>
                <a:ea typeface="+mn-lt"/>
                <a:cs typeface="Arial" panose="020B0604020202020204" pitchFamily="34" charset="0"/>
              </a:rPr>
              <a:t>Showing the bulk RNA-seq pipeline, beginning with FASTQ processing and quality control, followed by Salmon quasi-alignment, differential gene expression analysis with DESeq2, and downstream pathway, GO and KEGG. </a:t>
            </a:r>
            <a:r>
              <a:rPr lang="en-US" sz="1600" b="1">
                <a:latin typeface="Arial" panose="020B0604020202020204" pitchFamily="34" charset="0"/>
                <a:ea typeface="+mn-lt"/>
                <a:cs typeface="Arial" panose="020B0604020202020204" pitchFamily="34" charset="0"/>
              </a:rPr>
              <a:t>(C) UMAP clustering.</a:t>
            </a:r>
            <a:r>
              <a:rPr lang="en-US" sz="1600">
                <a:latin typeface="Arial" panose="020B0604020202020204" pitchFamily="34" charset="0"/>
                <a:ea typeface="+mn-lt"/>
                <a:cs typeface="Arial" panose="020B0604020202020204" pitchFamily="34" charset="0"/>
              </a:rPr>
              <a:t> Showing the UMAP-based dimensionality reduction used to visualize single-cell RNA-seq data, allowing identification of distinct cell populations and condition-specific clustering patterns.</a:t>
            </a:r>
            <a:endParaRPr lang="en-US" sz="1600">
              <a:latin typeface="Arial" panose="020B0604020202020204" pitchFamily="34" charset="0"/>
              <a:ea typeface="Calibri"/>
              <a:cs typeface="Arial" panose="020B0604020202020204" pitchFamily="34" charset="0"/>
            </a:endParaRPr>
          </a:p>
        </p:txBody>
      </p:sp>
      <p:sp>
        <p:nvSpPr>
          <p:cNvPr id="472" name="Arrow: Right 471">
            <a:extLst>
              <a:ext uri="{FF2B5EF4-FFF2-40B4-BE49-F238E27FC236}">
                <a16:creationId xmlns:a16="http://schemas.microsoft.com/office/drawing/2014/main" id="{126B74D6-827C-28D3-3812-8D7EA0819E27}"/>
              </a:ext>
            </a:extLst>
          </p:cNvPr>
          <p:cNvSpPr/>
          <p:nvPr/>
        </p:nvSpPr>
        <p:spPr>
          <a:xfrm>
            <a:off x="2614524" y="19204880"/>
            <a:ext cx="311838" cy="1559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Arrow: Right 474">
            <a:extLst>
              <a:ext uri="{FF2B5EF4-FFF2-40B4-BE49-F238E27FC236}">
                <a16:creationId xmlns:a16="http://schemas.microsoft.com/office/drawing/2014/main" id="{4F57F11C-7B5D-2E03-6DC7-A7F7B993B54E}"/>
              </a:ext>
            </a:extLst>
          </p:cNvPr>
          <p:cNvSpPr/>
          <p:nvPr/>
        </p:nvSpPr>
        <p:spPr>
          <a:xfrm>
            <a:off x="4564093" y="19273892"/>
            <a:ext cx="311838" cy="1559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Arrow: Right 475">
            <a:extLst>
              <a:ext uri="{FF2B5EF4-FFF2-40B4-BE49-F238E27FC236}">
                <a16:creationId xmlns:a16="http://schemas.microsoft.com/office/drawing/2014/main" id="{11CAF391-19F2-F7BA-DA45-B447331B744D}"/>
              </a:ext>
            </a:extLst>
          </p:cNvPr>
          <p:cNvSpPr/>
          <p:nvPr/>
        </p:nvSpPr>
        <p:spPr>
          <a:xfrm>
            <a:off x="7945648" y="19291145"/>
            <a:ext cx="311838" cy="1559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Arrow: Right 476">
            <a:extLst>
              <a:ext uri="{FF2B5EF4-FFF2-40B4-BE49-F238E27FC236}">
                <a16:creationId xmlns:a16="http://schemas.microsoft.com/office/drawing/2014/main" id="{50FB34C1-116C-3EFF-2AA1-54A421EC2D9D}"/>
              </a:ext>
            </a:extLst>
          </p:cNvPr>
          <p:cNvSpPr/>
          <p:nvPr/>
        </p:nvSpPr>
        <p:spPr>
          <a:xfrm>
            <a:off x="10809617" y="19135869"/>
            <a:ext cx="311838" cy="1559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Arrow: Right 477">
            <a:extLst>
              <a:ext uri="{FF2B5EF4-FFF2-40B4-BE49-F238E27FC236}">
                <a16:creationId xmlns:a16="http://schemas.microsoft.com/office/drawing/2014/main" id="{56B03869-A05E-36C9-30AC-67F4F7F412F6}"/>
              </a:ext>
            </a:extLst>
          </p:cNvPr>
          <p:cNvSpPr/>
          <p:nvPr/>
        </p:nvSpPr>
        <p:spPr>
          <a:xfrm>
            <a:off x="12603912" y="19187628"/>
            <a:ext cx="311838" cy="1559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 name="Arrow: Right 478">
            <a:extLst>
              <a:ext uri="{FF2B5EF4-FFF2-40B4-BE49-F238E27FC236}">
                <a16:creationId xmlns:a16="http://schemas.microsoft.com/office/drawing/2014/main" id="{40FB27E2-56AF-A066-53B0-6E98B4FDAC6E}"/>
              </a:ext>
            </a:extLst>
          </p:cNvPr>
          <p:cNvSpPr/>
          <p:nvPr/>
        </p:nvSpPr>
        <p:spPr>
          <a:xfrm>
            <a:off x="3425407" y="21568517"/>
            <a:ext cx="311838" cy="1559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 name="Arrow: Right 479">
            <a:extLst>
              <a:ext uri="{FF2B5EF4-FFF2-40B4-BE49-F238E27FC236}">
                <a16:creationId xmlns:a16="http://schemas.microsoft.com/office/drawing/2014/main" id="{097ADA81-F033-1141-1EC2-ED1E10B45009}"/>
              </a:ext>
            </a:extLst>
          </p:cNvPr>
          <p:cNvSpPr/>
          <p:nvPr/>
        </p:nvSpPr>
        <p:spPr>
          <a:xfrm>
            <a:off x="6151354" y="21620276"/>
            <a:ext cx="311838" cy="1559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Arrow: Right 480">
            <a:extLst>
              <a:ext uri="{FF2B5EF4-FFF2-40B4-BE49-F238E27FC236}">
                <a16:creationId xmlns:a16="http://schemas.microsoft.com/office/drawing/2014/main" id="{DB78B537-EDA9-3633-CBF5-31E71E2719C0}"/>
              </a:ext>
            </a:extLst>
          </p:cNvPr>
          <p:cNvSpPr/>
          <p:nvPr/>
        </p:nvSpPr>
        <p:spPr>
          <a:xfrm>
            <a:off x="7911142" y="21620276"/>
            <a:ext cx="311838" cy="1559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Arrow: Right 482">
            <a:extLst>
              <a:ext uri="{FF2B5EF4-FFF2-40B4-BE49-F238E27FC236}">
                <a16:creationId xmlns:a16="http://schemas.microsoft.com/office/drawing/2014/main" id="{CC33C917-5025-392D-E36F-D610A6DF91CF}"/>
              </a:ext>
            </a:extLst>
          </p:cNvPr>
          <p:cNvSpPr/>
          <p:nvPr/>
        </p:nvSpPr>
        <p:spPr>
          <a:xfrm>
            <a:off x="10205768" y="21568520"/>
            <a:ext cx="311838" cy="1559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9" name="Picture 488" descr="RNA-Seq results with Volcano Plot ...">
            <a:extLst>
              <a:ext uri="{FF2B5EF4-FFF2-40B4-BE49-F238E27FC236}">
                <a16:creationId xmlns:a16="http://schemas.microsoft.com/office/drawing/2014/main" id="{D37D3453-EF80-F865-AC08-B1D81FEC2C2D}"/>
              </a:ext>
            </a:extLst>
          </p:cNvPr>
          <p:cNvPicPr>
            <a:picLocks noChangeAspect="1"/>
          </p:cNvPicPr>
          <p:nvPr/>
        </p:nvPicPr>
        <p:blipFill>
          <a:blip r:embed="rId32"/>
          <a:stretch>
            <a:fillRect/>
          </a:stretch>
        </p:blipFill>
        <p:spPr>
          <a:xfrm>
            <a:off x="13063268" y="18372378"/>
            <a:ext cx="1961071" cy="1815322"/>
          </a:xfrm>
          <a:prstGeom prst="rect">
            <a:avLst/>
          </a:prstGeom>
        </p:spPr>
      </p:pic>
      <p:sp>
        <p:nvSpPr>
          <p:cNvPr id="493" name="TextBox 492">
            <a:extLst>
              <a:ext uri="{FF2B5EF4-FFF2-40B4-BE49-F238E27FC236}">
                <a16:creationId xmlns:a16="http://schemas.microsoft.com/office/drawing/2014/main" id="{8A14877A-BE6A-9D21-EA31-C02F6B8C9288}"/>
              </a:ext>
            </a:extLst>
          </p:cNvPr>
          <p:cNvSpPr txBox="1"/>
          <p:nvPr/>
        </p:nvSpPr>
        <p:spPr>
          <a:xfrm>
            <a:off x="935513" y="20153174"/>
            <a:ext cx="1344801" cy="3313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497" name="TextBox 496">
            <a:extLst>
              <a:ext uri="{FF2B5EF4-FFF2-40B4-BE49-F238E27FC236}">
                <a16:creationId xmlns:a16="http://schemas.microsoft.com/office/drawing/2014/main" id="{5803BEC6-6E22-A82E-777A-E0BA74CA5BB1}"/>
              </a:ext>
            </a:extLst>
          </p:cNvPr>
          <p:cNvSpPr txBox="1"/>
          <p:nvPr/>
        </p:nvSpPr>
        <p:spPr>
          <a:xfrm>
            <a:off x="1104182" y="20237569"/>
            <a:ext cx="174253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Calibri"/>
                <a:cs typeface="Calibri"/>
              </a:rPr>
              <a:t>Data Collection</a:t>
            </a:r>
          </a:p>
        </p:txBody>
      </p:sp>
      <p:sp>
        <p:nvSpPr>
          <p:cNvPr id="500" name="TextBox 499">
            <a:extLst>
              <a:ext uri="{FF2B5EF4-FFF2-40B4-BE49-F238E27FC236}">
                <a16:creationId xmlns:a16="http://schemas.microsoft.com/office/drawing/2014/main" id="{2A5AF999-17A5-66A4-F190-FCC1BACB7D1B}"/>
              </a:ext>
            </a:extLst>
          </p:cNvPr>
          <p:cNvSpPr txBox="1"/>
          <p:nvPr/>
        </p:nvSpPr>
        <p:spPr>
          <a:xfrm>
            <a:off x="3071004" y="20220316"/>
            <a:ext cx="174253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Calibri"/>
                <a:cs typeface="Calibri"/>
              </a:rPr>
              <a:t>DNA extraction</a:t>
            </a:r>
          </a:p>
        </p:txBody>
      </p:sp>
      <p:sp>
        <p:nvSpPr>
          <p:cNvPr id="501" name="TextBox 500">
            <a:extLst>
              <a:ext uri="{FF2B5EF4-FFF2-40B4-BE49-F238E27FC236}">
                <a16:creationId xmlns:a16="http://schemas.microsoft.com/office/drawing/2014/main" id="{320F16FC-1BF3-9072-81AA-E8A090F8E904}"/>
              </a:ext>
            </a:extLst>
          </p:cNvPr>
          <p:cNvSpPr txBox="1"/>
          <p:nvPr/>
        </p:nvSpPr>
        <p:spPr>
          <a:xfrm>
            <a:off x="5141344" y="20220316"/>
            <a:ext cx="257067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Calibri"/>
                <a:cs typeface="Calibri"/>
              </a:rPr>
              <a:t>16s Amplicon Sequencing</a:t>
            </a:r>
          </a:p>
        </p:txBody>
      </p:sp>
      <p:sp>
        <p:nvSpPr>
          <p:cNvPr id="502" name="TextBox 501">
            <a:extLst>
              <a:ext uri="{FF2B5EF4-FFF2-40B4-BE49-F238E27FC236}">
                <a16:creationId xmlns:a16="http://schemas.microsoft.com/office/drawing/2014/main" id="{46FF7545-F0E2-2AAC-B84F-447532D842A7}"/>
              </a:ext>
            </a:extLst>
          </p:cNvPr>
          <p:cNvSpPr txBox="1"/>
          <p:nvPr/>
        </p:nvSpPr>
        <p:spPr>
          <a:xfrm>
            <a:off x="8264105" y="20203063"/>
            <a:ext cx="205308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Calibri"/>
                <a:cs typeface="Calibri"/>
              </a:rPr>
              <a:t>Taxonomical Analysis using DADA2</a:t>
            </a:r>
          </a:p>
        </p:txBody>
      </p:sp>
      <p:sp>
        <p:nvSpPr>
          <p:cNvPr id="504" name="TextBox 503">
            <a:extLst>
              <a:ext uri="{FF2B5EF4-FFF2-40B4-BE49-F238E27FC236}">
                <a16:creationId xmlns:a16="http://schemas.microsoft.com/office/drawing/2014/main" id="{ADCD65FD-8313-773A-FF2D-889E75059EBF}"/>
              </a:ext>
            </a:extLst>
          </p:cNvPr>
          <p:cNvSpPr txBox="1"/>
          <p:nvPr/>
        </p:nvSpPr>
        <p:spPr>
          <a:xfrm>
            <a:off x="10765767" y="19996028"/>
            <a:ext cx="229462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Calibri"/>
                <a:cs typeface="Calibri"/>
              </a:rPr>
              <a:t>Creating </a:t>
            </a:r>
            <a:r>
              <a:rPr lang="en-US" sz="1600" b="1" err="1">
                <a:ea typeface="Calibri"/>
                <a:cs typeface="Calibri"/>
              </a:rPr>
              <a:t>phyloseq</a:t>
            </a:r>
            <a:r>
              <a:rPr lang="en-US" sz="1600" b="1">
                <a:ea typeface="Calibri"/>
                <a:cs typeface="Calibri"/>
              </a:rPr>
              <a:t> Objects for Visualization &amp; Analysis</a:t>
            </a:r>
          </a:p>
        </p:txBody>
      </p:sp>
      <p:sp>
        <p:nvSpPr>
          <p:cNvPr id="505" name="TextBox 504">
            <a:extLst>
              <a:ext uri="{FF2B5EF4-FFF2-40B4-BE49-F238E27FC236}">
                <a16:creationId xmlns:a16="http://schemas.microsoft.com/office/drawing/2014/main" id="{C45292EA-55C6-E27E-A678-08A933144938}"/>
              </a:ext>
            </a:extLst>
          </p:cNvPr>
          <p:cNvSpPr txBox="1"/>
          <p:nvPr/>
        </p:nvSpPr>
        <p:spPr>
          <a:xfrm>
            <a:off x="13181165" y="20151304"/>
            <a:ext cx="196682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Calibri"/>
                <a:cs typeface="Calibri"/>
              </a:rPr>
              <a:t>Differential Abundance Analysis</a:t>
            </a:r>
          </a:p>
        </p:txBody>
      </p:sp>
      <p:sp>
        <p:nvSpPr>
          <p:cNvPr id="507" name="TextBox 506">
            <a:extLst>
              <a:ext uri="{FF2B5EF4-FFF2-40B4-BE49-F238E27FC236}">
                <a16:creationId xmlns:a16="http://schemas.microsoft.com/office/drawing/2014/main" id="{40F261F6-ACF8-25D1-6E64-D66E4613F626}"/>
              </a:ext>
            </a:extLst>
          </p:cNvPr>
          <p:cNvSpPr txBox="1"/>
          <p:nvPr/>
        </p:nvSpPr>
        <p:spPr>
          <a:xfrm>
            <a:off x="914401" y="22532194"/>
            <a:ext cx="258792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Calibri"/>
                <a:cs typeface="Calibri"/>
              </a:rPr>
              <a:t>RNA-seq FASTQ Processing</a:t>
            </a:r>
          </a:p>
        </p:txBody>
      </p:sp>
      <p:sp>
        <p:nvSpPr>
          <p:cNvPr id="508" name="TextBox 507">
            <a:extLst>
              <a:ext uri="{FF2B5EF4-FFF2-40B4-BE49-F238E27FC236}">
                <a16:creationId xmlns:a16="http://schemas.microsoft.com/office/drawing/2014/main" id="{A26A2AE9-6EE0-8F5D-EDFE-369280E6DF31}"/>
              </a:ext>
            </a:extLst>
          </p:cNvPr>
          <p:cNvSpPr txBox="1"/>
          <p:nvPr/>
        </p:nvSpPr>
        <p:spPr>
          <a:xfrm>
            <a:off x="3778372" y="22583953"/>
            <a:ext cx="224286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Calibri"/>
                <a:cs typeface="Calibri"/>
              </a:rPr>
              <a:t>Alignment (Salmon)</a:t>
            </a:r>
          </a:p>
          <a:p>
            <a:endParaRPr lang="en-US" sz="1600" b="1">
              <a:ea typeface="Calibri"/>
              <a:cs typeface="Calibri"/>
            </a:endParaRPr>
          </a:p>
        </p:txBody>
      </p:sp>
      <p:sp>
        <p:nvSpPr>
          <p:cNvPr id="509" name="TextBox 508">
            <a:extLst>
              <a:ext uri="{FF2B5EF4-FFF2-40B4-BE49-F238E27FC236}">
                <a16:creationId xmlns:a16="http://schemas.microsoft.com/office/drawing/2014/main" id="{BAA5F884-CF14-E04A-5299-6A037F44FFBB}"/>
              </a:ext>
            </a:extLst>
          </p:cNvPr>
          <p:cNvSpPr txBox="1"/>
          <p:nvPr/>
        </p:nvSpPr>
        <p:spPr>
          <a:xfrm>
            <a:off x="6211021" y="22532194"/>
            <a:ext cx="186330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Calibri"/>
                <a:cs typeface="Calibri"/>
              </a:rPr>
              <a:t>Differential Gene Expression</a:t>
            </a:r>
          </a:p>
        </p:txBody>
      </p:sp>
      <p:sp>
        <p:nvSpPr>
          <p:cNvPr id="510" name="TextBox 509">
            <a:extLst>
              <a:ext uri="{FF2B5EF4-FFF2-40B4-BE49-F238E27FC236}">
                <a16:creationId xmlns:a16="http://schemas.microsoft.com/office/drawing/2014/main" id="{85F103A0-9D87-F792-D593-241D75FC1A73}"/>
              </a:ext>
            </a:extLst>
          </p:cNvPr>
          <p:cNvSpPr txBox="1"/>
          <p:nvPr/>
        </p:nvSpPr>
        <p:spPr>
          <a:xfrm>
            <a:off x="8195095" y="22514942"/>
            <a:ext cx="174253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Calibri"/>
                <a:cs typeface="Calibri"/>
              </a:rPr>
              <a:t>Gene Ontology Analysis</a:t>
            </a:r>
          </a:p>
        </p:txBody>
      </p:sp>
      <p:sp>
        <p:nvSpPr>
          <p:cNvPr id="511" name="TextBox 510">
            <a:extLst>
              <a:ext uri="{FF2B5EF4-FFF2-40B4-BE49-F238E27FC236}">
                <a16:creationId xmlns:a16="http://schemas.microsoft.com/office/drawing/2014/main" id="{1620F6C6-F48D-C4D3-40DD-D11E1DDFA6DD}"/>
              </a:ext>
            </a:extLst>
          </p:cNvPr>
          <p:cNvSpPr txBox="1"/>
          <p:nvPr/>
        </p:nvSpPr>
        <p:spPr>
          <a:xfrm>
            <a:off x="10593239" y="22514942"/>
            <a:ext cx="184605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Calibri"/>
                <a:cs typeface="Calibri"/>
              </a:rPr>
              <a:t>KEGG Pathway Analysis</a:t>
            </a:r>
          </a:p>
        </p:txBody>
      </p:sp>
      <p:sp>
        <p:nvSpPr>
          <p:cNvPr id="64" name="TextBox 63">
            <a:extLst>
              <a:ext uri="{FF2B5EF4-FFF2-40B4-BE49-F238E27FC236}">
                <a16:creationId xmlns:a16="http://schemas.microsoft.com/office/drawing/2014/main" id="{B1B57201-44E1-7954-2BC3-3CA4C8382791}"/>
              </a:ext>
            </a:extLst>
          </p:cNvPr>
          <p:cNvSpPr txBox="1"/>
          <p:nvPr/>
        </p:nvSpPr>
        <p:spPr>
          <a:xfrm>
            <a:off x="12749843" y="22652964"/>
            <a:ext cx="210484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Calibri"/>
                <a:cs typeface="Calibri"/>
              </a:rPr>
              <a:t>UMAP Cell Clustering</a:t>
            </a:r>
          </a:p>
        </p:txBody>
      </p:sp>
      <p:sp>
        <p:nvSpPr>
          <p:cNvPr id="65" name="TextBox 64">
            <a:extLst>
              <a:ext uri="{FF2B5EF4-FFF2-40B4-BE49-F238E27FC236}">
                <a16:creationId xmlns:a16="http://schemas.microsoft.com/office/drawing/2014/main" id="{5EB7E1C7-2CB4-17D5-EC39-84376075760C}"/>
              </a:ext>
            </a:extLst>
          </p:cNvPr>
          <p:cNvSpPr txBox="1"/>
          <p:nvPr/>
        </p:nvSpPr>
        <p:spPr>
          <a:xfrm>
            <a:off x="12508301" y="20703395"/>
            <a:ext cx="191506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Arial"/>
                <a:cs typeface="Arial"/>
              </a:rPr>
              <a:t>C.</a:t>
            </a:r>
            <a:endParaRPr lang="en-US" sz="2000"/>
          </a:p>
          <a:p>
            <a:pPr algn="ctr"/>
            <a:endParaRPr lang="en-US" sz="1600">
              <a:ea typeface="Calibri"/>
              <a:cs typeface="Calibri"/>
            </a:endParaRPr>
          </a:p>
        </p:txBody>
      </p:sp>
      <p:pic>
        <p:nvPicPr>
          <p:cNvPr id="43" name="Picture 42" descr="A graph with blue dots&#10;&#10;AI-generated content may be incorrect.">
            <a:extLst>
              <a:ext uri="{FF2B5EF4-FFF2-40B4-BE49-F238E27FC236}">
                <a16:creationId xmlns:a16="http://schemas.microsoft.com/office/drawing/2014/main" id="{1714DC11-1249-6A8D-A110-46BE79F48A75}"/>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21849332" y="28730283"/>
            <a:ext cx="6758298" cy="3379149"/>
          </a:xfrm>
          <a:prstGeom prst="rect">
            <a:avLst/>
          </a:prstGeom>
        </p:spPr>
      </p:pic>
      <p:sp>
        <p:nvSpPr>
          <p:cNvPr id="56" name="TextBox 55">
            <a:extLst>
              <a:ext uri="{FF2B5EF4-FFF2-40B4-BE49-F238E27FC236}">
                <a16:creationId xmlns:a16="http://schemas.microsoft.com/office/drawing/2014/main" id="{48C4125B-BFEC-5671-490B-29B6148EACCA}"/>
              </a:ext>
            </a:extLst>
          </p:cNvPr>
          <p:cNvSpPr txBox="1"/>
          <p:nvPr/>
        </p:nvSpPr>
        <p:spPr>
          <a:xfrm>
            <a:off x="15849436" y="25379393"/>
            <a:ext cx="906998" cy="387209"/>
          </a:xfrm>
          <a:prstGeom prst="rect">
            <a:avLst/>
          </a:prstGeom>
          <a:noFill/>
          <a:ln>
            <a:noFill/>
          </a:ln>
        </p:spPr>
        <p:txBody>
          <a:bodyPr wrap="square" lIns="78341" tIns="39173" rIns="78341" bIns="39173" rtlCol="0" anchor="ctr" anchorCtr="1">
            <a:spAutoFit/>
          </a:bodyPr>
          <a:lstStyle/>
          <a:p>
            <a:r>
              <a:rPr lang="en-US" sz="2002" b="1">
                <a:latin typeface="Arial" panose="020B0604020202020204" pitchFamily="34" charset="0"/>
                <a:cs typeface="Arial" panose="020B0604020202020204" pitchFamily="34" charset="0"/>
              </a:rPr>
              <a:t>C.</a:t>
            </a:r>
          </a:p>
        </p:txBody>
      </p:sp>
      <p:sp>
        <p:nvSpPr>
          <p:cNvPr id="57" name="TextBox 56">
            <a:extLst>
              <a:ext uri="{FF2B5EF4-FFF2-40B4-BE49-F238E27FC236}">
                <a16:creationId xmlns:a16="http://schemas.microsoft.com/office/drawing/2014/main" id="{409859BA-2E9F-BF0C-E7B8-CD982EBBFC33}"/>
              </a:ext>
            </a:extLst>
          </p:cNvPr>
          <p:cNvSpPr txBox="1"/>
          <p:nvPr/>
        </p:nvSpPr>
        <p:spPr>
          <a:xfrm>
            <a:off x="22328031" y="25378551"/>
            <a:ext cx="906998" cy="387209"/>
          </a:xfrm>
          <a:prstGeom prst="rect">
            <a:avLst/>
          </a:prstGeom>
          <a:noFill/>
          <a:ln>
            <a:noFill/>
          </a:ln>
        </p:spPr>
        <p:txBody>
          <a:bodyPr wrap="square" lIns="78341" tIns="39173" rIns="78341" bIns="39173" rtlCol="0" anchor="ctr" anchorCtr="1">
            <a:spAutoFit/>
          </a:bodyPr>
          <a:lstStyle/>
          <a:p>
            <a:r>
              <a:rPr lang="en-US" sz="2002" b="1">
                <a:latin typeface="Arial" panose="020B0604020202020204" pitchFamily="34" charset="0"/>
                <a:cs typeface="Arial" panose="020B0604020202020204" pitchFamily="34" charset="0"/>
              </a:rPr>
              <a:t>D.</a:t>
            </a:r>
          </a:p>
        </p:txBody>
      </p:sp>
      <p:sp>
        <p:nvSpPr>
          <p:cNvPr id="460" name="TextBox 459">
            <a:extLst>
              <a:ext uri="{FF2B5EF4-FFF2-40B4-BE49-F238E27FC236}">
                <a16:creationId xmlns:a16="http://schemas.microsoft.com/office/drawing/2014/main" id="{0EA3FB2A-D7A0-D580-9D95-F0F0F1B91462}"/>
              </a:ext>
            </a:extLst>
          </p:cNvPr>
          <p:cNvSpPr txBox="1"/>
          <p:nvPr/>
        </p:nvSpPr>
        <p:spPr>
          <a:xfrm>
            <a:off x="22449599" y="28457582"/>
            <a:ext cx="906998" cy="387209"/>
          </a:xfrm>
          <a:prstGeom prst="rect">
            <a:avLst/>
          </a:prstGeom>
          <a:noFill/>
          <a:ln>
            <a:noFill/>
          </a:ln>
        </p:spPr>
        <p:txBody>
          <a:bodyPr wrap="square" lIns="78341" tIns="39173" rIns="78341" bIns="39173" rtlCol="0" anchor="ctr" anchorCtr="1">
            <a:spAutoFit/>
          </a:bodyPr>
          <a:lstStyle/>
          <a:p>
            <a:r>
              <a:rPr lang="en-US" sz="2002" b="1">
                <a:latin typeface="Arial" panose="020B0604020202020204" pitchFamily="34" charset="0"/>
                <a:cs typeface="Arial" panose="020B0604020202020204" pitchFamily="34" charset="0"/>
              </a:rPr>
              <a:t>E.</a:t>
            </a:r>
          </a:p>
        </p:txBody>
      </p:sp>
    </p:spTree>
    <p:extLst>
      <p:ext uri="{BB962C8B-B14F-4D97-AF65-F5344CB8AC3E}">
        <p14:creationId xmlns:p14="http://schemas.microsoft.com/office/powerpoint/2010/main" val="3228328423"/>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74e17f4-cf11-4ce2-b3ef-5de76bf4ce41}" enabled="0" method="" siteId="{374e17f4-cf11-4ce2-b3ef-5de76bf4ce41}" removed="1"/>
</clbl:labelList>
</file>

<file path=docProps/app.xml><?xml version="1.0" encoding="utf-8"?>
<Properties xmlns="http://schemas.openxmlformats.org/officeDocument/2006/extended-properties" xmlns:vt="http://schemas.openxmlformats.org/officeDocument/2006/docPropsVTypes">
  <Template/>
  <TotalTime>0</TotalTime>
  <Words>1869</Words>
  <Application>Microsoft Office PowerPoint</Application>
  <PresentationFormat>Custom</PresentationFormat>
  <Paragraphs>72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Wingdings</vt:lpstr>
      <vt:lpstr>Office Theme</vt:lpstr>
      <vt:lpstr>PowerPoint Presentation</vt:lpstr>
    </vt:vector>
  </TitlesOfParts>
  <Company>URMC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Johnson, Gail (Anes);Carol_Deaton@urmc.rochester.edu</dc:creator>
  <cp:lastModifiedBy>Khan, Mahathir</cp:lastModifiedBy>
  <cp:revision>1</cp:revision>
  <cp:lastPrinted>2025-09-18T19:02:48Z</cp:lastPrinted>
  <dcterms:created xsi:type="dcterms:W3CDTF">2017-09-15T20:53:19Z</dcterms:created>
  <dcterms:modified xsi:type="dcterms:W3CDTF">2025-12-13T22:17:15Z</dcterms:modified>
</cp:coreProperties>
</file>